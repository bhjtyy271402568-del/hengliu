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先说明自己不是电气专业，板子由AI辅助完成；希望老师按“必须改、必须测、可保留”给出明确意见。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这页不用逐字讲；先让老师知道后面每个结论都有来源层级，避免把AI推断当成已确认事实。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确认老师评价的是36V标称、29V/18A持续工作的版本；如果输入范围或负载性质不同，后续结论会变化。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请老师先用这条路径校验器件次序、保护位置和回流。后面的所有PCB图片都围绕这条主路径展开。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用鼠标或打印标注让老师指出：主开关环、续流环、栅极环、两组Kelvin采样和模拟地参考分别在哪里。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先确认选用LT3763做约522W同步Buck在功能上成立；随后逐个核对供电、驱动、采样、反馈、启动和布局。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请老师重点判断输入TVS、过压关断MOS和寄生尖峰叠加后，U1相关60V引脚的真实最坏值。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https://www.littelfuse.com/assetdocs/tvs-diodes-smcj-datasheet?assetguid=37388813-0d6d-4329-969b-1aa8b7614ac1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这页把“LT3763能不能把四只MOS驱好”拆成电压、驱动阻抗、栅电荷、布局和温升五个问题。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请老师确认这套层级在500W样机上是否足够；特别是34A硬过流之前，MOS、电感、分流器和铜皮承受多久。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用框图解释为什么R59/R60+C77的毫秒级平均滤波不能简单等同于“短路保护延迟2ms”；快速硬过流在SENSE通道。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和老师逐项画钩：每个引脚是否有确定网络、器件值、地参考、PCB位置和测试方法。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重点请老师看：并联MOS驱动分叉、C76/D5回路、SENSE Kelvin入口、VC网络到模拟地是否足够短净。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提醒老师：软件从小到大缓升能降低调试风险，但不能替代硬件最坏故障分析。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请老师判断是否还需要更低的独立输出过压手段；当前没有“输出串联过压MOS”。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请老师优先判断R57=20k的降额斜率是否过早，以及VC参数是否需要网络分析/负载阶跃后再决定。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这页和后面的PCB局部图对照使用；让老师直接指出不符合官方布局原则的具体坐标。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这是一张索引页；如果老师时间有限，可从最担心的组直接跳到对应页。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请老师核实C75/C85是否都需要装，以及VIN小电容、VREF电容、SS电容的实际位号与摆放是否符合手册。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在PCB页用局部图继续检查。这里先确认逻辑上的高边/低边器件和栅极网络没有接反。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请老师确认R59/R60/C77是否符合LT3763推荐用法，并判断36V输入时18A输出的输入限流余量。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请老师判断34A硬过流阈值是否会让主MOS/电感在异常时承受过大峰值，以及是否需要更低的独立上限。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如果老师要求任何瞬间都不超过30V，则必须新增更低的快速保护策略；当前内部OVP不是30V钳位。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请老师帮忙确定：是否接受软件作为额定上限；若不接受，应把哪一级硬件阈值降低。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温度点是依据100k/B3950近似计算，必须用实物NTC曲线和热台复测。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此前150k/10k导致约19.5V的旧问题已修改；当前版不能再引用旧值。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请老师确认补偿首值是否适合当前L/C和18A负载，并给出需要测的负载阶跃幅度与合格波形。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请老师不要用79A额定电流直接判断安全；真正需要看5V栅压、热阻、铜面积、开关损耗和并联动态。</a:t>
            </a:r>
          </a:p>
          <a:p>
            <a:endParaRPr/>
          </a:p>
          <a:p>
            <a:r>
              <a:t>[Sources]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请老师给出其认可的VDS尖峰余量和壳温上限；数据手册SOA是器件级边界，不等于板级持续能力。</a:t>
            </a:r>
          </a:p>
          <a:p>
            <a:endParaRPr/>
          </a:p>
          <a:p>
            <a:r>
              <a:t>[Sources]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逐行请老师指出公式或假设是否不适合实际负载；尤其确认电感纹波、MOS温度系数和散热边界。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这张图只看拓扑位置；不要被大面积红色铜皮掩盖实际的最窄截面和换层入口。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请老师用笔在图上圈出最小换流环；若圈不出清晰闭环，布局仍需继续优化。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这页让老师判断是否需要独立栅电阻/不同阻值，及探头如何接才能不引入长地线误差。</a:t>
            </a:r>
          </a:p>
          <a:p>
            <a:endParaRPr/>
          </a:p>
          <a:p>
            <a:r>
              <a:t>[Sources]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请老师特别确认L6→R1仅走顶层是否有助于保持Kelvin边界，以及R1前后大铜的电压梯度是否会污染采样。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请老师给出当前SW铜面积是否合适；不要因为四层2oz就把SW也铺满四层。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让老师逐网判断“该走几层”：$1N947、GND、VCC_OUT、SW、L6→R1、VCC_BAT。记录理由而非统一全铺。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请老师指出需要新增/移动的功率过孔，尤其是MOS源极回流、本地电容两端、$1N947换层和输出端。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让老师先确认电路时序：过压来时，TVS钳位、U7/Q11动作、P-MOS关断分别有多快，哪一个先承受能量。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- https://www.littelfuse.com/assetdocs/tvs-diodes-smcj-datasheet?assetguid=37388813-0d6d-4329-969b-1aa8b7614ac1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请老师判断是否允许直接热插拔；若必须热插拔，需要根据电源/线束电感和输入电容计算P-MOS SOA。</a:t>
            </a:r>
          </a:p>
          <a:p>
            <a:endParaRPr/>
          </a:p>
          <a:p>
            <a:r>
              <a:t>[Sources]</a:t>
            </a:r>
          </a:p>
          <a:p>
            <a:r>
              <a:t>- https://www.vishay.com/docs/73471/sum110p0.pdf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请老师结合完整U7/Q11网络判断R8是否应降低、是否需要滞回，以及这级是否能在TVS钳位前及时关断。</a:t>
            </a:r>
          </a:p>
          <a:p>
            <a:endParaRPr/>
          </a:p>
          <a:p>
            <a:r>
              <a:t>[Sources]</a:t>
            </a:r>
          </a:p>
          <a:p>
            <a:r>
              <a:t>- https://assets.nexperia.com/documents/data-sheet/BZT52_SER.pdf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请老师给出可接受的热插拔方式与测试波形；首板测试必须限流并记录TVS两端、电流和Q3/Q12 VDS。</a:t>
            </a:r>
          </a:p>
          <a:p>
            <a:endParaRPr/>
          </a:p>
          <a:p>
            <a:r>
              <a:t>[Sources]</a:t>
            </a:r>
          </a:p>
          <a:p>
            <a:r>
              <a:t>- https://www.littelfuse.com/assetdocs/tvs-diodes-smcj-datasheet?assetguid=37388813-0d6d-4329-969b-1aa8b7614ac1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请老师判断2.2nF是否可能过度注入或影响环路；如果建议改值，请给出依据和验证工况。</a:t>
            </a:r>
          </a:p>
          <a:p>
            <a:endParaRPr/>
          </a:p>
          <a:p>
            <a:r>
              <a:t>[Sources]</a:t>
            </a:r>
          </a:p>
          <a:p>
            <a:r>
              <a:t>- https://www.ti.com/lit/ds/symlink/lm5164.pdf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把老师意见转成可下单的制造备注和BOM DNP表，不要只留在口头。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请老师逐行改成自己的意见；若不同意，记录反例、修改值与验证方法。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https://www.vishay.com/docs/73471/sum110p0.pdf</a:t>
            </a:r>
          </a:p>
          <a:p>
            <a:r>
              <a:t>- https://assets.nexperia.com/documents/data-sheet/BZT52_SER.pdf</a:t>
            </a:r>
          </a:p>
          <a:p>
            <a:r>
              <a:t>- https://www.littelfuse.com/assetdocs/tvs-diodes-smcj-datasheet?assetguid=37388813-0d6d-4329-969b-1aa8b7614ac1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这页可直接打印；优先让老师给“可操作结论”，不要只问“板子有没有问题”。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把每一步的电源限流值、探头连接和停止条件写在实验台旁。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请老师补充其认可的合格门槛，例如MOS壳温、VDS尖峰比例、输出过冲、电流偏差与热平衡时间。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https://www.infineon.com/assets/row/public/documents/24/49/infineon-bsc070n10ls5-datasheet-en.pdf</a:t>
            </a:r>
          </a:p>
          <a:p>
            <a:r>
              <a:t>- https://www.vishay.com/docs/73471/sum110p0.pdf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每张波形保存：工况、探头、带宽限制、采样率、参考地、环境温度和板号。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https://www.analog.com/media/en/technical-documentation/data-sheets/lt3763.pdf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交谈提示：</a:t>
            </a:r>
          </a:p>
          <a:p>
            <a:r>
              <a:t>当场把意见写到这一页或另附审查记录表；没有明确修改值/测试标准的意见，后续很难闭环。</a:t>
            </a:r>
          </a:p>
          <a:p>
            <a:endParaRPr/>
          </a:p>
          <a:p>
            <a:r>
              <a:t>[Sources]</a:t>
            </a:r>
          </a:p>
          <a:p>
            <a:r>
              <a:t>- C:/Users/Administrator/Desktop/henliu/8.13 5.epro2；C:/Users/Administrator/Desktop/henliu/target_components_details.json；C:/Users/Administrator/Desktop/henliu/full_bom.json；C:/Users/Administrator/Desktop/henliu/PCB独立AI复审交接_2026-08-14.md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0F0F36-7A96-4DA5-93A6-F0B837B0D346}"/>
              </a:ext>
            </a:extLst>
          </p:cNvPr>
          <p:cNvSpPr>
            <a:spLocks noGrp="1"/>
          </p:cNvSpPr>
          <p:nvPr/>
        </p:nvSpPr>
        <p:spPr>
          <a:xfrm>
            <a:off x="419100" y="1047750"/>
            <a:ext cx="52197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 恒流源板</a:t>
            </a:r>
          </a:p>
          <a:p>
            <a:pPr algn="l">
              <a:buNone/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36V → 29V / 18A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B5CC92-1ECA-4C97-8859-214FC8ED6B24}"/>
              </a:ext>
            </a:extLst>
          </p:cNvPr>
          <p:cNvSpPr>
            <a:spLocks noGrp="1"/>
          </p:cNvSpPr>
          <p:nvPr/>
        </p:nvSpPr>
        <p:spPr>
          <a:xfrm>
            <a:off x="419100" y="2876550"/>
            <a:ext cx="514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原理图 · 器件选型 · PCB回路 · 制造 · 样机验证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DD33367-3E29-439F-A608-436BA63A78EE}"/>
              </a:ext>
            </a:extLst>
          </p:cNvPr>
          <p:cNvSpPr>
            <a:spLocks noGrp="1"/>
          </p:cNvSpPr>
          <p:nvPr/>
        </p:nvSpPr>
        <p:spPr>
          <a:xfrm>
            <a:off x="419100" y="4000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F0E6EA-B774-4CA6-87F1-AB1A0EC4A060}"/>
              </a:ext>
            </a:extLst>
          </p:cNvPr>
          <p:cNvSpPr>
            <a:spLocks noGrp="1"/>
          </p:cNvSpPr>
          <p:nvPr/>
        </p:nvSpPr>
        <p:spPr>
          <a:xfrm>
            <a:off x="514350" y="40481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522 W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E16F10-04A7-417E-8491-2FCB99EDEC8C}"/>
              </a:ext>
            </a:extLst>
          </p:cNvPr>
          <p:cNvSpPr>
            <a:spLocks noGrp="1"/>
          </p:cNvSpPr>
          <p:nvPr/>
        </p:nvSpPr>
        <p:spPr>
          <a:xfrm>
            <a:off x="1790700" y="4000500"/>
            <a:ext cx="13144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4F57AE-3D27-4908-BED6-57FC5C43A815}"/>
              </a:ext>
            </a:extLst>
          </p:cNvPr>
          <p:cNvSpPr>
            <a:spLocks noGrp="1"/>
          </p:cNvSpPr>
          <p:nvPr/>
        </p:nvSpPr>
        <p:spPr>
          <a:xfrm>
            <a:off x="1885950" y="4048125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同步 Buck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C76ACE-1254-4F80-85BF-E929E2C972AF}"/>
              </a:ext>
            </a:extLst>
          </p:cNvPr>
          <p:cNvSpPr>
            <a:spLocks noGrp="1"/>
          </p:cNvSpPr>
          <p:nvPr/>
        </p:nvSpPr>
        <p:spPr>
          <a:xfrm>
            <a:off x="3238500" y="4000500"/>
            <a:ext cx="19621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906EFF-3543-4248-B390-3D77F7F0B7EF}"/>
              </a:ext>
            </a:extLst>
          </p:cNvPr>
          <p:cNvSpPr>
            <a:spLocks noGrp="1"/>
          </p:cNvSpPr>
          <p:nvPr/>
        </p:nvSpPr>
        <p:spPr>
          <a:xfrm>
            <a:off x="3333750" y="4048125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四层 · 下单全层2oz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F8FB4FC-3093-4744-A7A4-48D8EED46BA4}"/>
              </a:ext>
            </a:extLst>
          </p:cNvPr>
          <p:cNvSpPr>
            <a:spLocks noGrp="1"/>
          </p:cNvSpPr>
          <p:nvPr/>
        </p:nvSpPr>
        <p:spPr>
          <a:xfrm>
            <a:off x="6096000" y="361950"/>
            <a:ext cx="5695950" cy="5810250"/>
          </a:xfrm>
          <a:prstGeom prst="roundRect">
            <a:avLst>
              <a:gd name="adj" fmla="val 2007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A2365F-D7B9-4A38-88C8-E52CA7366F53}"/>
              </a:ext>
            </a:extLst>
          </p:cNvPr>
          <p:cNvSpPr>
            <a:spLocks noGrp="1"/>
          </p:cNvSpPr>
          <p:nvPr/>
        </p:nvSpPr>
        <p:spPr>
          <a:xfrm>
            <a:off x="6096000" y="6286500"/>
            <a:ext cx="5695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buNone/>
              <a:defRPr sz="9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用途：和老师逐项审图、现场记录结论；不是答辩展示稿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018674"/>
            <a:ext cx="5695950" cy="44968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4340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87F9C54-7A78-41FA-B736-E51C95D3EEC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D94AF-BDB7-415E-B28A-81151A59034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这份工作稿怎么用：边看、边问、边记录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F43772E-A40E-476F-94AB-0CE21EB726F1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E5D699-A61C-4D3B-9553-B1F940EEF99D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1222BF-65C0-4D1B-8779-7C2544E80E03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8.13 5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C8903B-58DC-4CB7-BA04-F6985399C134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当前唯一设计基线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11031E-61B6-4192-A89E-C057107B3816}"/>
              </a:ext>
            </a:extLst>
          </p:cNvPr>
          <p:cNvSpPr>
            <a:spLocks noGrp="1"/>
          </p:cNvSpPr>
          <p:nvPr/>
        </p:nvSpPr>
        <p:spPr>
          <a:xfrm>
            <a:off x="32956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03CD3E-4416-4A2D-833A-F092D58F474A}"/>
              </a:ext>
            </a:extLst>
          </p:cNvPr>
          <p:cNvSpPr>
            <a:spLocks noGrp="1"/>
          </p:cNvSpPr>
          <p:nvPr/>
        </p:nvSpPr>
        <p:spPr>
          <a:xfrm>
            <a:off x="34671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48页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D9C507-36F1-486A-8725-65EC0DF81D4D}"/>
              </a:ext>
            </a:extLst>
          </p:cNvPr>
          <p:cNvSpPr>
            <a:spLocks noGrp="1"/>
          </p:cNvSpPr>
          <p:nvPr/>
        </p:nvSpPr>
        <p:spPr>
          <a:xfrm>
            <a:off x="34671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每页只讨论一个问题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778E9D-C517-4CE8-9A4F-8B9F8058F8BE}"/>
              </a:ext>
            </a:extLst>
          </p:cNvPr>
          <p:cNvSpPr>
            <a:spLocks noGrp="1"/>
          </p:cNvSpPr>
          <p:nvPr/>
        </p:nvSpPr>
        <p:spPr>
          <a:xfrm>
            <a:off x="61912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AF21EC-E188-4842-9C91-7A97EBDC2C83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DRC=0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124520-D2E4-4C81-A131-4F71067409C0}"/>
              </a:ext>
            </a:extLst>
          </p:cNvPr>
          <p:cNvSpPr>
            <a:spLocks noGrp="1"/>
          </p:cNvSpPr>
          <p:nvPr/>
        </p:nvSpPr>
        <p:spPr>
          <a:xfrm>
            <a:off x="63627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只代表几何规则通过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12EEB2B-B744-4CB8-A762-C08C74B0ED59}"/>
              </a:ext>
            </a:extLst>
          </p:cNvPr>
          <p:cNvSpPr>
            <a:spLocks noGrp="1"/>
          </p:cNvSpPr>
          <p:nvPr/>
        </p:nvSpPr>
        <p:spPr>
          <a:xfrm>
            <a:off x="9086850" y="1543050"/>
            <a:ext cx="270510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6FE179-1F19-40C0-A4F5-1094AB04EB02}"/>
              </a:ext>
            </a:extLst>
          </p:cNvPr>
          <p:cNvSpPr>
            <a:spLocks noGrp="1"/>
          </p:cNvSpPr>
          <p:nvPr/>
        </p:nvSpPr>
        <p:spPr>
          <a:xfrm>
            <a:off x="9258300" y="17145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老师结论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1A2F8B-A607-4375-9BEB-3698568659DF}"/>
              </a:ext>
            </a:extLst>
          </p:cNvPr>
          <p:cNvSpPr>
            <a:spLocks noGrp="1"/>
          </p:cNvSpPr>
          <p:nvPr/>
        </p:nvSpPr>
        <p:spPr>
          <a:xfrm>
            <a:off x="9258300" y="23050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决定投板和测试边界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263C97C-82D2-4C83-855C-06024C73BBD5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5505450" cy="2743200"/>
          </a:xfrm>
          <a:prstGeom prst="roundRect">
            <a:avLst>
              <a:gd name="adj" fmla="val 4167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CA6D90-F930-49A6-96AE-50B7D23D6DE1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页面信息标记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C81B78-0EDF-48A5-8CEA-425EAB9210E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4857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“当前值”：来自当前epro/BOM提取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“官方”：来自器件数据手册截图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“计算”：明确列出假设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“待确认”：需要老师判断或样机验证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CFE1F26-0AF2-480F-B6EE-D5F22879D3DE}"/>
              </a:ext>
            </a:extLst>
          </p:cNvPr>
          <p:cNvSpPr>
            <a:spLocks noGrp="1"/>
          </p:cNvSpPr>
          <p:nvPr/>
        </p:nvSpPr>
        <p:spPr>
          <a:xfrm>
            <a:off x="6172200" y="3086100"/>
            <a:ext cx="5619750" cy="2743200"/>
          </a:xfrm>
          <a:prstGeom prst="roundRect">
            <a:avLst>
              <a:gd name="adj" fmla="val 4167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D127F6-7C59-430A-BCD8-CADFA25FAD8B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建议交谈顺序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7F7C3C-8274-4DEB-B775-185702721F3C}"/>
              </a:ext>
            </a:extLst>
          </p:cNvPr>
          <p:cNvSpPr>
            <a:spLocks noGrp="1"/>
          </p:cNvSpPr>
          <p:nvPr/>
        </p:nvSpPr>
        <p:spPr>
          <a:xfrm>
            <a:off x="6400800" y="3781425"/>
            <a:ext cx="4972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先确认拓扑和目标工况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再看LT3763各引脚网络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再沿大电流回路看PCB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最后确定首版测试与保护边界</a:t>
            </a:r>
          </a:p>
        </p:txBody>
      </p:sp>
    </p:spTree>
    <p:extLst>
      <p:ext uri="{BB962C8B-B14F-4D97-AF65-F5344CB8AC3E}">
        <p14:creationId xmlns:p14="http://schemas.microsoft.com/office/powerpoint/2010/main" val="193443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87F9C54-7A78-41FA-B736-E51C95D3EECF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D94AF-BDB7-415E-B28A-81151A59034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设计目标、边界和目前已确定的工艺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F43772E-A40E-476F-94AB-0CE21EB726F1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E5D699-A61C-4D3B-9553-B1F940EEF99D}"/>
              </a:ext>
            </a:extLst>
          </p:cNvPr>
          <p:cNvSpPr>
            <a:spLocks noGrp="1"/>
          </p:cNvSpPr>
          <p:nvPr/>
        </p:nvSpPr>
        <p:spPr>
          <a:xfrm>
            <a:off x="4000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1222BF-65C0-4D1B-8779-7C2544E80E03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36 V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C8903B-58DC-4CB7-BA04-F6985399C134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标称输入；UVLO另设窗口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11031E-61B6-4192-A89E-C057107B3816}"/>
              </a:ext>
            </a:extLst>
          </p:cNvPr>
          <p:cNvSpPr>
            <a:spLocks noGrp="1"/>
          </p:cNvSpPr>
          <p:nvPr/>
        </p:nvSpPr>
        <p:spPr>
          <a:xfrm>
            <a:off x="32956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03CD3E-4416-4A2D-833A-F092D58F474A}"/>
              </a:ext>
            </a:extLst>
          </p:cNvPr>
          <p:cNvSpPr>
            <a:spLocks noGrp="1"/>
          </p:cNvSpPr>
          <p:nvPr/>
        </p:nvSpPr>
        <p:spPr>
          <a:xfrm>
            <a:off x="34671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29 V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D9C507-36F1-486A-8725-65EC0DF81D4D}"/>
              </a:ext>
            </a:extLst>
          </p:cNvPr>
          <p:cNvSpPr>
            <a:spLocks noGrp="1"/>
          </p:cNvSpPr>
          <p:nvPr/>
        </p:nvSpPr>
        <p:spPr>
          <a:xfrm>
            <a:off x="34671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目标输出；允许接近30V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778E9D-C517-4CE8-9A4F-8B9F8058F8BE}"/>
              </a:ext>
            </a:extLst>
          </p:cNvPr>
          <p:cNvSpPr>
            <a:spLocks noGrp="1"/>
          </p:cNvSpPr>
          <p:nvPr/>
        </p:nvSpPr>
        <p:spPr>
          <a:xfrm>
            <a:off x="6191250" y="1543050"/>
            <a:ext cx="264795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AF21EC-E188-4842-9C91-7A97EBDC2C83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18 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124520-D2E4-4C81-A131-4F71067409C0}"/>
              </a:ext>
            </a:extLst>
          </p:cNvPr>
          <p:cNvSpPr>
            <a:spLocks noGrp="1"/>
          </p:cNvSpPr>
          <p:nvPr/>
        </p:nvSpPr>
        <p:spPr>
          <a:xfrm>
            <a:off x="6362700" y="23050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持续输出目标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12EEB2B-B744-4CB8-A762-C08C74B0ED59}"/>
              </a:ext>
            </a:extLst>
          </p:cNvPr>
          <p:cNvSpPr>
            <a:spLocks noGrp="1"/>
          </p:cNvSpPr>
          <p:nvPr/>
        </p:nvSpPr>
        <p:spPr>
          <a:xfrm>
            <a:off x="9086850" y="1543050"/>
            <a:ext cx="2705100" cy="1257300"/>
          </a:xfrm>
          <a:prstGeom prst="roundRect">
            <a:avLst>
              <a:gd name="adj" fmla="val 909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6FE179-1F19-40C0-A4F5-1094AB04EB02}"/>
              </a:ext>
            </a:extLst>
          </p:cNvPr>
          <p:cNvSpPr>
            <a:spLocks noGrp="1"/>
          </p:cNvSpPr>
          <p:nvPr/>
        </p:nvSpPr>
        <p:spPr>
          <a:xfrm>
            <a:off x="9258300" y="17145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≈522 W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1A2F8B-A607-4375-9BEB-3698568659DF}"/>
              </a:ext>
            </a:extLst>
          </p:cNvPr>
          <p:cNvSpPr>
            <a:spLocks noGrp="1"/>
          </p:cNvSpPr>
          <p:nvPr/>
        </p:nvSpPr>
        <p:spPr>
          <a:xfrm>
            <a:off x="9258300" y="23050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额定输出功率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263C97C-82D2-4C83-855C-06024C73BBD5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5505450" cy="2743200"/>
          </a:xfrm>
          <a:prstGeom prst="roundRect">
            <a:avLst>
              <a:gd name="adj" fmla="val 4167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CA6D90-F930-49A6-96AE-50B7D23D6DE1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电气目标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C81B78-0EDF-48A5-8CEA-425EAB9210E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4857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同步降压，fSW≈200kHz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软件通过DAC给电流指令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LT3763保留输入限流、逐周期过流、FB过压等硬件保护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CFE1F26-0AF2-480F-B6EE-D5F22879D3DE}"/>
              </a:ext>
            </a:extLst>
          </p:cNvPr>
          <p:cNvSpPr>
            <a:spLocks noGrp="1"/>
          </p:cNvSpPr>
          <p:nvPr/>
        </p:nvSpPr>
        <p:spPr>
          <a:xfrm>
            <a:off x="6172200" y="3086100"/>
            <a:ext cx="5619750" cy="2743200"/>
          </a:xfrm>
          <a:prstGeom prst="roundRect">
            <a:avLst>
              <a:gd name="adj" fmla="val 4167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D127F6-7C59-430A-BCD8-CADFA25FAD8B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PCB / 制造目标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7F7C3C-8274-4DEB-B775-185702721F3C}"/>
              </a:ext>
            </a:extLst>
          </p:cNvPr>
          <p:cNvSpPr>
            <a:spLocks noGrp="1"/>
          </p:cNvSpPr>
          <p:nvPr/>
        </p:nvSpPr>
        <p:spPr>
          <a:xfrm>
            <a:off x="6400800" y="3781425"/>
            <a:ext cx="4972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四层；下单计划全层2oz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盘中孔采用树脂塞孔＋电镀盖孔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高电流焊盘直连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功率过孔阵列以0.6/0.3mm为主</a:t>
            </a:r>
          </a:p>
        </p:txBody>
      </p:sp>
    </p:spTree>
    <p:extLst>
      <p:ext uri="{BB962C8B-B14F-4D97-AF65-F5344CB8AC3E}">
        <p14:creationId xmlns:p14="http://schemas.microsoft.com/office/powerpoint/2010/main" val="193443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2E140BC-72E6-422D-9968-55F4966E3AE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342E0E-AAF8-4E3B-A2D4-1A5D0E7F8917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从输入端到29V输出端：先建立同一张“电流地图”</a:t>
            </a: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C22462-3467-4975-83B9-B8376EF066BB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409700" y="2638425"/>
            <a:ext cx="9410700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cxnSp>
        <p:nvCxnSpPr>
          <p:cNvPr id="46" name="直接箭头连接符 45"/>
          <p:cNvCxnSpPr/>
          <p:nvPr/>
        </p:nvCxnSpPr>
        <p:spPr>
          <a:xfrm>
            <a:off x="9525000" y="2638425"/>
            <a:ext cx="1295400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30819FE-9FED-497A-A07C-337CF3DFD1D8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757E2D-A5D4-48AA-AD88-EBA1D11D696B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36V输入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B1870B-B09F-49F4-AC3B-3C7596C0EA19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端子/线束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5244B7D-0B49-4BC3-9390-B50786E07933}"/>
              </a:ext>
            </a:extLst>
          </p:cNvPr>
          <p:cNvSpPr>
            <a:spLocks noGrp="1"/>
          </p:cNvSpPr>
          <p:nvPr/>
        </p:nvSpPr>
        <p:spPr>
          <a:xfrm>
            <a:off x="23431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8DDB1B-0D96-4DA4-A532-D8084EF7976B}"/>
              </a:ext>
            </a:extLst>
          </p:cNvPr>
          <p:cNvSpPr>
            <a:spLocks noGrp="1"/>
          </p:cNvSpPr>
          <p:nvPr/>
        </p:nvSpPr>
        <p:spPr>
          <a:xfrm>
            <a:off x="24765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TVS/反接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1D02A9-2CD7-4D9E-ACB3-E462D0195394}"/>
              </a:ext>
            </a:extLst>
          </p:cNvPr>
          <p:cNvSpPr>
            <a:spLocks noGrp="1"/>
          </p:cNvSpPr>
          <p:nvPr/>
        </p:nvSpPr>
        <p:spPr>
          <a:xfrm>
            <a:off x="24765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D6 · Q4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1862D54-CFA3-4BFE-83B7-C4B4498C8F40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8FBA4E-B394-4B9E-A753-5B7B4042DC86}"/>
              </a:ext>
            </a:extLst>
          </p:cNvPr>
          <p:cNvSpPr>
            <a:spLocks noGrp="1"/>
          </p:cNvSpPr>
          <p:nvPr/>
        </p:nvSpPr>
        <p:spPr>
          <a:xfrm>
            <a:off x="44196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过压关断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0273E3-3918-439F-9EAE-5C07777A6655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Q3/Q12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AF007C-D6B3-444A-90EA-AF056C4437DE}"/>
              </a:ext>
            </a:extLst>
          </p:cNvPr>
          <p:cNvSpPr>
            <a:spLocks noGrp="1"/>
          </p:cNvSpPr>
          <p:nvPr/>
        </p:nvSpPr>
        <p:spPr>
          <a:xfrm>
            <a:off x="62293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3EF290-9C8D-4D5C-ABD3-8FD57A003672}"/>
              </a:ext>
            </a:extLst>
          </p:cNvPr>
          <p:cNvSpPr>
            <a:spLocks noGrp="1"/>
          </p:cNvSpPr>
          <p:nvPr/>
        </p:nvSpPr>
        <p:spPr>
          <a:xfrm>
            <a:off x="63627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输入分流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9E3BE2-C9A3-45F3-85D7-189BB6DFE4F8}"/>
              </a:ext>
            </a:extLst>
          </p:cNvPr>
          <p:cNvSpPr>
            <a:spLocks noGrp="1"/>
          </p:cNvSpPr>
          <p:nvPr/>
        </p:nvSpPr>
        <p:spPr>
          <a:xfrm>
            <a:off x="63627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R12 · IVIN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0099ED-DC01-4666-882F-62E8406F9433}"/>
              </a:ext>
            </a:extLst>
          </p:cNvPr>
          <p:cNvSpPr>
            <a:spLocks noGrp="1"/>
          </p:cNvSpPr>
          <p:nvPr/>
        </p:nvSpPr>
        <p:spPr>
          <a:xfrm>
            <a:off x="81724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998217-DEC9-4816-BA16-1AE704EECABF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同步半桥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BE6D2B-1C1A-4EC2-B33D-C50CEF8EAF20}"/>
              </a:ext>
            </a:extLst>
          </p:cNvPr>
          <p:cNvSpPr>
            <a:spLocks noGrp="1"/>
          </p:cNvSpPr>
          <p:nvPr/>
        </p:nvSpPr>
        <p:spPr>
          <a:xfrm>
            <a:off x="83058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Q2/Q5高边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3031A28-3E4A-4DB3-ABB3-46A8D225E3C7}"/>
              </a:ext>
            </a:extLst>
          </p:cNvPr>
          <p:cNvSpPr>
            <a:spLocks noGrp="1"/>
          </p:cNvSpPr>
          <p:nvPr/>
        </p:nvSpPr>
        <p:spPr>
          <a:xfrm>
            <a:off x="10115550" y="1981200"/>
            <a:ext cx="15621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1705B2-BF06-42D4-9FE1-E5C4B9D2A05F}"/>
              </a:ext>
            </a:extLst>
          </p:cNvPr>
          <p:cNvSpPr>
            <a:spLocks noGrp="1"/>
          </p:cNvSpPr>
          <p:nvPr/>
        </p:nvSpPr>
        <p:spPr>
          <a:xfrm>
            <a:off x="10248900" y="22098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L6/R1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90FF0F-968A-4FDB-A040-97980B1F1261}"/>
              </a:ext>
            </a:extLst>
          </p:cNvPr>
          <p:cNvSpPr>
            <a:spLocks noGrp="1"/>
          </p:cNvSpPr>
          <p:nvPr/>
        </p:nvSpPr>
        <p:spPr>
          <a:xfrm>
            <a:off x="10248900" y="26479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29V输出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DF2BAC4-5961-4179-902A-31A74A6A1471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11391900" cy="1924050"/>
          </a:xfrm>
          <a:prstGeom prst="roundRect">
            <a:avLst>
              <a:gd name="adj" fmla="val 594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88E4C3-812B-4A09-AD26-97EEB7665C14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正向主电流路径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F1701F-CFFE-4114-BD07-A5317CE71D62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50"/>
          </a:bodyPr>
          <a:lstStyle/>
          <a:p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VCC_BAT → Q3/Q12 → R12 → $1N947/DCBUS → 本地输入MLCC → Q2/Q5 → SW → L6 → R1 → VCC_OUT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90A246-5DC1-4650-A3F6-86D0A5D57C0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回流：负载GND → 地平面/过孔阵列 → Q1/Q6低边 → 本地输入电容；审PCB时优先找窄颈、绕行、共阻抗。</a:t>
            </a:r>
          </a:p>
        </p:txBody>
      </p:sp>
    </p:spTree>
    <p:extLst>
      <p:ext uri="{BB962C8B-B14F-4D97-AF65-F5344CB8AC3E}">
        <p14:creationId xmlns:p14="http://schemas.microsoft.com/office/powerpoint/2010/main" val="180762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当前PCB分区：哪里是控制，哪里是真正的500W回路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左上：输入保护/通断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中上：LT3763控制区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右上：同步半桥与本地电容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右侧：L6电感与输出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左下：MCU与辅助电源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先让老师定位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红色大铜皮不等于回路一定好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重点是输入电容—MOS—GND闭环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采样线必须避开SW和大电流共阻抗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层间电流必须有明确过孔入口/出口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LT3763在本板中的角色：外置MOS的高电流同步Buck控制器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官方输入范围6V–60V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同时控制TG/BG外置MOS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输出电流由SENSE±调节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FB负责输出电压/过压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IVIN负责平均输入限流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本板对应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36V输入，29V/18A输出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四只100V N-MOS组成并联半桥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R1/R12均为2.5mΩ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软件只通过CTRL1给电流目标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40000" r="2000" b="3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LT3763绝对额定与引脚图：60V不是可随意触碰的工作余量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VIN/EN/IVIN/SENSE到60V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BOOST绝对额定66V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BOOST−SW仅6V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CTRL/FB等小信号脚约3V级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裸露焊盘29必须接地焊牢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需要对应本板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D6最大钳位58.1V，60V脚余量很小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SW尖峰会同时影响BOOST−SW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U1裸露焊盘热/电连接要核实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绝对额定不能当连续工作目标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1000" r="2000" b="36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LT3763关键电气参数：5V驱动、51mV电流环、200kHz设定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INTVCC约5V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SENSE满量程48–54mV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TG/BG驱动阻抗约1–2Ω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死区约42–44ns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R22=221k对应约200kHz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本板需要核对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BSC070在4.5–5V栅压下的RDS(on)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四只MOS总栅电荷对INTVCC负担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并联分支是否各自对称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200kHz下开关损耗与尖峰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4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LT3763保护阈值：输入限流、FB过压、输出硬过流不是同一件事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IVIN阈值45–55mV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FB调节基准1.206V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FB过压阈值约1.515V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SENSE硬过流约85mV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保护层级不同、速度不同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代入本板2.5mΩ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输入限流约18–22A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输出满量程约19.2–21.6A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输出硬过流约34A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软件18A不是独立硬件上限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40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LT3763内部框图：先区分慢环、平均环和逐周期快速保护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FB：输出电压环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SENSE：输出电流环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IVIN：平均输入电流环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CTRL/SS：电流命令上限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TG/BG：最后作用到功率级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审图时的用法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每个环路先找“测量点”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再找滤波和补偿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再看返回U1的参考地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最后确认环路响应速度与保护职责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5000" t="6000" r="5000" b="8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Pin 1–11逐项对照：供电、UVLO、输入采样、FAULT和FB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BG：低边MOS栅极驱动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INTVCC：至少22µF旁路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VIN：至少4.7µF就近旁路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IVINP/N：平均输入采样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FB：1.206V调节/1.515V过压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本板当前值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C75=47µF，C85=47µF装配状态待统一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R52/R53=120k/6.34k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R59/R60=1k，C77=1µF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R30/R49=232k/10k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3000" r="2000" b="25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Pin 12–29：CTRL、SENSE、驱动与时序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CTRL1/2与SS取最小值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SENSE±测R1压降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VC用R4/C42补偿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RT=221k设约200kHz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TG/BOOST/SW构成浮动高边驱动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本板当前值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CTRL1：DAC经10k/8.2k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CTRL2：100k NTC + 20k/100k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SENSE滤波10Ω/33nF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BOOST C76=220nF，D5=SS510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3000" r="2000" b="25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输出电流如何被设定：CTRL1、CTRL2、SS和FBIN共同“取最小”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0–1.5V映射到0–51mV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CTRL1是软件电流命令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CTRL2是温度降额上限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SS负责启动阶段限流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任一更低都会降低输出电流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本板18A工作点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R1=2.5mΩ，18A压降45mV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典型CTRL电压约1.324V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经10k/8.2k分压，DAC约2.94V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首次上电建议先把DAC限制在约2.70V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34000" r="2000" b="55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输出电压环与过压：当前29.19V调节，内部OVP约36.66V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FB调节基准1.206V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R30=232k，R49=10k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VOUT≈1.206×(1+23.2)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标称输出≈29.19V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1.515V OVP≈36.66V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解释给老师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29V是正常电压环目标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36.66V是故障级关断，不是30V上限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允许接近30V时当前标称值合理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仍需测启动/卸载过冲是否越界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8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UVLO、NTC降额与VC补偿：三类慢变量必须分别验证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UVLO有启动/关断迟滞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CTRL2可做NTC降额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VC决定电流环动态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不能只看直流计算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实测要覆盖温度和输入阶跃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本板当前值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UVLO：120k/6.34k → 约34.0V启动、30.3V关断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NTC：100k/B3950，R57=20k，R58=100k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VC：18.2k + 10nF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4000" r="2000" b="8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LT3763官方布局要点：最小开关环、Kelvin采样、受控SW面积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输入电容贴近高边/低边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两个采样电阻靠近功率路径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SENSE推荐10Ω/33nF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使用完整地平面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SW面积在损耗与EMI间折中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对照本板看五处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半桥本地100V MLCC的位置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R1/R12 Kelvin线从焊盘内侧引出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SW底层大铜已删除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栅极与BOOST回路不过SW下方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28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当前U1外围网络总览：按“供电—驱动—采样—控制”拆开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U1 LT3763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36V→29V/18A · 200kHz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供电/参考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VIN · INTVCC · VREF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BOOST · SS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EN/UVLO · IVINP/N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IVINMON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SENSE± · ISMON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FB · FAULT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控制/驱动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CTRL1/2 · VC · RT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TG/BG · SW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下一页开始逐组核对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每组都给出：本板器件值 → 数据手册要求 → PCB关注点 → 老师需回答的问题。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51"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VIN / INTVCC / VREF / BOOST / SS：U1自己的供电是否“短、稳、净”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供电与自举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U1能否稳定驱动四只MOS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VIN Pin3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$1N947/DCBUS → 本地旁路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官方要求≥4.7µF就近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INTVCC Pin2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约5V；C75=47µF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C85=47µF状态待统一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BOOST Pin27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D5=SS510：INTVCC→BOOST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C76=220nF：BOOST↔SW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VREF/SS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VREF需≥1µF旁路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SS电容决定启动限流斜率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PCB检查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VIN旁路回到U1裸露焊盘地；D5/C76围成的小回路不能绕行或跨越强噪声区。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TG / BG 与四只BSC070：并联驱动必须看分叉、回流和开关速度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TG / BG驱动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5V栅压 · 200kHz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高边支路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TG → Q2/Q5 Gate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Drain=$1N947，Source=SW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低边支路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BG → Q1/Q6 Gate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Drain=SW，Source=GND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并联对称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每支路长度/阻抗相近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源极回流不可共窄颈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器件负担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Qg typ≈16nC@4.5V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四只平均栅电流≈12.8mA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需要老师判断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是否需要每只MOS独立栅电阻；现有分叉会不会引起振铃、抢流或一只先开/先关。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R12 + IVINP/N：这是平均输入限流，不是唯一的短路快速保护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输入电流环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R12=2.5mΩ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主路径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VCC_BAT侧 → R12 → $1N947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15.3A额定输入电流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Kelvin采样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IVINP/N各经1kΩ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C77=1µF跨两引脚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限流范围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45–55mV ÷2.5mΩ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≈18–22A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滤波职责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1k/1µF用于平均输入电流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不替代SENSE硬过流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809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“80Hz所以必炸”这一判断不成立；真正要审的是R12 Kelvin、平均限流边界和SENSE快速保护的配合。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 + SENSE±：输出电流环、逐周期限制和Kelvin边界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输出电流环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R1=2.5mΩ · 2512 · 3W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功率路径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L6 → R1 → VCC_OUT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18A时R1≈0.81W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采样滤波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R23/R24=10Ω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C49=33nF跨SENSE±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正常范围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48–54mV满量程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18A对应45mV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硬过流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约85mV÷2.5mΩ≈34A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是最后兜底，不是额定值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PCB边界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L6→R1顶层大铜可保留；Kelvin线必须从R1焊盘内侧独立引出，不借用大电流铜皮压降。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FB电压环：29.19V正常调节与36.66V内部OVP的关系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FB网络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R30=232kΩ · R49=10kΩ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正常目标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1.206×(1+232/10)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≈29.19V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电阻精度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R30/R49均0.1%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基准误差仍需计入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内部OVP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1.515×(1+232/10)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≈36.66V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动态风险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卸载/启动/故障时过冲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不能只看静态分压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573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满足“可超过29V但最高约30V”的正常目标；需用快速电子负载验证过冲而非继续改分压。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CTRL1 + MCU DAC：软件如何把18A命令送到LT3763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CTRL1电流命令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DAC → 10kΩ/8.2kΩ → Pin14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映射关系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0–1.5V CTRL1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对应0–51mV SENSE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18A所需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R1压降45mV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CTRL1典型≈1.324V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DAC电压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分压系数8.2/(10+8.2)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DAC典型≈2.94V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软件策略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启动先限约2.70V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再小步升流并监控FAULT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必须明确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750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软件18A限制不是硬件独立保护；固件复位、DAC满量程、开机默认值和通信失控都要定义安全状态。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CTRL2 + 100k NTC：当前20k电阻会怎样随温度降低电流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CTRL2温度上限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16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R56=100k/B3950 · R57=20k · R58=100k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约25°C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允许电流约19.4A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接近满量程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约35°C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允许电流约18A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开始影响额定输出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约50°C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允许电流约15.5A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明显降额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约60°C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允许电流约13.6A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取决于NTC真实热点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待老师确认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662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35°C附近就开始卡18A是否过早；NTC贴在哪个器件旁，才能代表MOS/电感/铜皮中最危险的温度。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EN/UVLO：当前约34.0V启动、30.3V关断，不会在20V继续硬撑29V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EN/UVLO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R52=120kΩ · R53=6.34kΩ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启动阈值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1.705×(1+120/6.34)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≈34.0V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关断阈值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1.52×(1+120/6.34)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≈30.3V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迟滞窗口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约3.7V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避免输入边界反复启停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系统含义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30V以下关断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避免降压器长期掉压工作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需要实测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603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限流电源慢升/慢降记录实际开关点；同时看Q3/Q12通断和12V辅助电源是否产生异常先后顺序。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VC / RT / SYNC / PWM / FAULT / 监测脚：控制细节与可观测性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控制与监测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316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R4/C42 · R22 · FAULT · ISMON/IVINMON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VC补偿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R4=18.2kΩ串C42=10nF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需负载阶跃验证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RT/SYNC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R22=221kΩ≈200kHz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SYNC不用时按手册固定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PWM/FAULT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PWM不用时应置有效状态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FAULT上拉与MCU逻辑核对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监测脚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ISMON/IVINMON增益20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负载电容应&lt;1nF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调试建议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868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把FAULT、ISMON、IVINMON接到可测焊盘或MCU ADC；不要用长环测试点加载SW、栅极或Kelvin线。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主桥MOS：BSC070N10LS5关键参数与5V驱动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VDS=100V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RDS(on) max 8.5mΩ@4.5V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RDS(on) max 7mΩ@10V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Qg typ 16nC@4.5V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本板高边2只、低边2只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初步导通损耗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18A由两只并联分担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25°C估算高边合计≈1.11W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低边合计≈0.27W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未含温升倍增、开关损耗与不均流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39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BSC070动态与SOA：100V耐压足够不代表开关尖峰和线性区都安全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SOA与脉冲宽度相关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RDS(on)随结温升高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并联器件仍需对称驱动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SW/TG/BG必须实测尖峰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需要热像确认四只均流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首板通过标准建议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VDS尖峰留有明确余量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两只并联栅波形接近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同组两只温差可解释且稳定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18A热平衡结温/壳温不过限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3000" t="10000" r="3000" b="5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E8D8548E-3985-491E-9033-E387A5F76CC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D3F87C-60D3-48D2-BEE0-DBDA48D462D5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29V / 18A / 200kHz关键计算：用于确定量级和测试边界</a:t>
            </a: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A7F7599-76BA-4416-A693-46749CCAE8E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005B70-0792-4629-978C-78F5C1EB6648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226695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58C39D-2258-4B88-AAD2-9713F80710B0}"/>
              </a:ext>
            </a:extLst>
          </p:cNvPr>
          <p:cNvSpPr>
            <a:spLocks noGrp="1"/>
          </p:cNvSpPr>
          <p:nvPr/>
        </p:nvSpPr>
        <p:spPr>
          <a:xfrm>
            <a:off x="514350" y="16478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F71FEF-F150-4990-B397-F2D671C75314}"/>
              </a:ext>
            </a:extLst>
          </p:cNvPr>
          <p:cNvSpPr>
            <a:spLocks noGrp="1"/>
          </p:cNvSpPr>
          <p:nvPr/>
        </p:nvSpPr>
        <p:spPr>
          <a:xfrm>
            <a:off x="2667000" y="1524000"/>
            <a:ext cx="295275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CBBD72-9C58-4CC2-B226-AF463C576678}"/>
              </a:ext>
            </a:extLst>
          </p:cNvPr>
          <p:cNvSpPr>
            <a:spLocks noGrp="1"/>
          </p:cNvSpPr>
          <p:nvPr/>
        </p:nvSpPr>
        <p:spPr>
          <a:xfrm>
            <a:off x="2781300" y="1647825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本板条件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F0CDB08-E81E-4933-B1C3-FC2CDB4AC53F}"/>
              </a:ext>
            </a:extLst>
          </p:cNvPr>
          <p:cNvSpPr>
            <a:spLocks noGrp="1"/>
          </p:cNvSpPr>
          <p:nvPr/>
        </p:nvSpPr>
        <p:spPr>
          <a:xfrm>
            <a:off x="5619750" y="1524000"/>
            <a:ext cx="323850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FBDDFC-0DED-4D65-8DEE-C59EE0533355}"/>
              </a:ext>
            </a:extLst>
          </p:cNvPr>
          <p:cNvSpPr>
            <a:spLocks noGrp="1"/>
          </p:cNvSpPr>
          <p:nvPr/>
        </p:nvSpPr>
        <p:spPr>
          <a:xfrm>
            <a:off x="5734050" y="1647825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 / 数据手册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162EFEF-DF4D-4FC0-8C3D-91ED20CC0EA7}"/>
              </a:ext>
            </a:extLst>
          </p:cNvPr>
          <p:cNvSpPr>
            <a:spLocks noGrp="1"/>
          </p:cNvSpPr>
          <p:nvPr/>
        </p:nvSpPr>
        <p:spPr>
          <a:xfrm>
            <a:off x="8858250" y="1524000"/>
            <a:ext cx="293370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600898-F2F3-405E-9268-66C68533B0DF}"/>
              </a:ext>
            </a:extLst>
          </p:cNvPr>
          <p:cNvSpPr>
            <a:spLocks noGrp="1"/>
          </p:cNvSpPr>
          <p:nvPr/>
        </p:nvSpPr>
        <p:spPr>
          <a:xfrm>
            <a:off x="8972550" y="1647825"/>
            <a:ext cx="270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F084F7-4FAE-4FAE-AD89-67386A488B9B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AE1C2A-50D6-4634-B229-68E8476B911F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输出电压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ECE1BED-E285-4711-91A7-B4BA08D54B7C}"/>
              </a:ext>
            </a:extLst>
          </p:cNvPr>
          <p:cNvSpPr>
            <a:spLocks noGrp="1"/>
          </p:cNvSpPr>
          <p:nvPr/>
        </p:nvSpPr>
        <p:spPr>
          <a:xfrm>
            <a:off x="2667000" y="19812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0E49F9-BAF2-4B64-8A77-DAC690FA8AD3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R30=232k / R49=10k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35D64B3-5520-4DD3-B42E-127D11B52633}"/>
              </a:ext>
            </a:extLst>
          </p:cNvPr>
          <p:cNvSpPr>
            <a:spLocks noGrp="1"/>
          </p:cNvSpPr>
          <p:nvPr/>
        </p:nvSpPr>
        <p:spPr>
          <a:xfrm>
            <a:off x="5619750" y="19812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C94081-0BA3-484F-A024-7B6D81128A91}"/>
              </a:ext>
            </a:extLst>
          </p:cNvPr>
          <p:cNvSpPr>
            <a:spLocks noGrp="1"/>
          </p:cNvSpPr>
          <p:nvPr/>
        </p:nvSpPr>
        <p:spPr>
          <a:xfrm>
            <a:off x="5734050" y="20955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VOUT≈29.19V；OVP≈36.66V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DCA55B-27E8-4630-8220-9F2AAF699687}"/>
              </a:ext>
            </a:extLst>
          </p:cNvPr>
          <p:cNvSpPr>
            <a:spLocks noGrp="1"/>
          </p:cNvSpPr>
          <p:nvPr/>
        </p:nvSpPr>
        <p:spPr>
          <a:xfrm>
            <a:off x="8858250" y="19812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0C6228-49FA-41C2-8B0B-3397455E6390}"/>
              </a:ext>
            </a:extLst>
          </p:cNvPr>
          <p:cNvSpPr>
            <a:spLocks noGrp="1"/>
          </p:cNvSpPr>
          <p:nvPr/>
        </p:nvSpPr>
        <p:spPr>
          <a:xfrm>
            <a:off x="8972550" y="20955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正常目标符合≤30V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F69FBD6-2920-4F4C-843C-28C89FE519E2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BBDC4-419A-4951-8384-E2E62294517D}"/>
              </a:ext>
            </a:extLst>
          </p:cNvPr>
          <p:cNvSpPr>
            <a:spLocks noGrp="1"/>
          </p:cNvSpPr>
          <p:nvPr/>
        </p:nvSpPr>
        <p:spPr>
          <a:xfrm>
            <a:off x="514350" y="2743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电感纹波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4B2032-6F06-4442-A29C-01CF8B545BE6}"/>
              </a:ext>
            </a:extLst>
          </p:cNvPr>
          <p:cNvSpPr>
            <a:spLocks noGrp="1"/>
          </p:cNvSpPr>
          <p:nvPr/>
        </p:nvSpPr>
        <p:spPr>
          <a:xfrm>
            <a:off x="2667000" y="26289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189706-8D0C-41BE-8801-EEC2BDA86702}"/>
              </a:ext>
            </a:extLst>
          </p:cNvPr>
          <p:cNvSpPr>
            <a:spLocks noGrp="1"/>
          </p:cNvSpPr>
          <p:nvPr/>
        </p:nvSpPr>
        <p:spPr>
          <a:xfrm>
            <a:off x="2781300" y="27432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36→29V，L=6.8µH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FC6D78F-EE3C-4611-8733-D3FC4CAC559E}"/>
              </a:ext>
            </a:extLst>
          </p:cNvPr>
          <p:cNvSpPr>
            <a:spLocks noGrp="1"/>
          </p:cNvSpPr>
          <p:nvPr/>
        </p:nvSpPr>
        <p:spPr>
          <a:xfrm>
            <a:off x="5619750" y="26289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533E53-6145-4148-B11C-22FCA488EAC3}"/>
              </a:ext>
            </a:extLst>
          </p:cNvPr>
          <p:cNvSpPr>
            <a:spLocks noGrp="1"/>
          </p:cNvSpPr>
          <p:nvPr/>
        </p:nvSpPr>
        <p:spPr>
          <a:xfrm>
            <a:off x="5734050" y="27432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ΔIL≈4.15App；峰≈20.1A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337437C-1801-4137-8848-B8D35308244C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D461DB-0F32-42C8-A76E-39CF565725A0}"/>
              </a:ext>
            </a:extLst>
          </p:cNvPr>
          <p:cNvSpPr>
            <a:spLocks noGrp="1"/>
          </p:cNvSpPr>
          <p:nvPr/>
        </p:nvSpPr>
        <p:spPr>
          <a:xfrm>
            <a:off x="8972550" y="27432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低于40A饱和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9DDA3F3-C428-4908-A26D-B869E58B27B6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A55404-544C-4C78-82BA-CA95EF539F41}"/>
              </a:ext>
            </a:extLst>
          </p:cNvPr>
          <p:cNvSpPr>
            <a:spLocks noGrp="1"/>
          </p:cNvSpPr>
          <p:nvPr/>
        </p:nvSpPr>
        <p:spPr>
          <a:xfrm>
            <a:off x="514350" y="3390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电感铜耗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E05CCA5-7D3E-44C2-95CE-7A44BD50E5C2}"/>
              </a:ext>
            </a:extLst>
          </p:cNvPr>
          <p:cNvSpPr>
            <a:spLocks noGrp="1"/>
          </p:cNvSpPr>
          <p:nvPr/>
        </p:nvSpPr>
        <p:spPr>
          <a:xfrm>
            <a:off x="2667000" y="32766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7AEC09-1529-4F33-B99C-D12F43FE443A}"/>
              </a:ext>
            </a:extLst>
          </p:cNvPr>
          <p:cNvSpPr>
            <a:spLocks noGrp="1"/>
          </p:cNvSpPr>
          <p:nvPr/>
        </p:nvSpPr>
        <p:spPr>
          <a:xfrm>
            <a:off x="2781300" y="33909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DCR≈2mΩ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34DC5A0-488A-4051-B817-F2123780ED53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75B860-926F-4539-BF76-C9D3BC45FED2}"/>
              </a:ext>
            </a:extLst>
          </p:cNvPr>
          <p:cNvSpPr>
            <a:spLocks noGrp="1"/>
          </p:cNvSpPr>
          <p:nvPr/>
        </p:nvSpPr>
        <p:spPr>
          <a:xfrm>
            <a:off x="5734050" y="33909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IL,rms≈18.04A；P≈0.65W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A5106B5-2A0A-4B38-A4D7-E51035AF7D41}"/>
              </a:ext>
            </a:extLst>
          </p:cNvPr>
          <p:cNvSpPr>
            <a:spLocks noGrp="1"/>
          </p:cNvSpPr>
          <p:nvPr/>
        </p:nvSpPr>
        <p:spPr>
          <a:xfrm>
            <a:off x="8858250" y="32766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00CB95-38DD-4A32-AE50-73E231F6922D}"/>
              </a:ext>
            </a:extLst>
          </p:cNvPr>
          <p:cNvSpPr>
            <a:spLocks noGrp="1"/>
          </p:cNvSpPr>
          <p:nvPr/>
        </p:nvSpPr>
        <p:spPr>
          <a:xfrm>
            <a:off x="8972550" y="33909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还需测磁芯/风冷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7157FB-6306-49B6-A6DA-8F35DD710B38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911ACD-D7CF-4955-8A0C-ECD5EFC58C3F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输出分流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C8BD03A-9C72-4161-9D21-2E5D4701D713}"/>
              </a:ext>
            </a:extLst>
          </p:cNvPr>
          <p:cNvSpPr>
            <a:spLocks noGrp="1"/>
          </p:cNvSpPr>
          <p:nvPr/>
        </p:nvSpPr>
        <p:spPr>
          <a:xfrm>
            <a:off x="2667000" y="39243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FCF7BDB-4346-4F9F-9A47-FF440483AF48}"/>
              </a:ext>
            </a:extLst>
          </p:cNvPr>
          <p:cNvSpPr>
            <a:spLocks noGrp="1"/>
          </p:cNvSpPr>
          <p:nvPr/>
        </p:nvSpPr>
        <p:spPr>
          <a:xfrm>
            <a:off x="2781300" y="40386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R1=2.5mΩ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33AEF0-54D8-45AD-A21A-92D712F8F132}"/>
              </a:ext>
            </a:extLst>
          </p:cNvPr>
          <p:cNvSpPr>
            <a:spLocks noGrp="1"/>
          </p:cNvSpPr>
          <p:nvPr/>
        </p:nvSpPr>
        <p:spPr>
          <a:xfrm>
            <a:off x="5619750" y="39243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6190386-DC1F-4AC8-ABFE-287F38D02626}"/>
              </a:ext>
            </a:extLst>
          </p:cNvPr>
          <p:cNvSpPr>
            <a:spLocks noGrp="1"/>
          </p:cNvSpPr>
          <p:nvPr/>
        </p:nvSpPr>
        <p:spPr>
          <a:xfrm>
            <a:off x="5734050" y="40386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18A时P≈0.81W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89B1EF4-AC81-4668-9618-D247F1924DE3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CD4D6C5-DF43-475F-903C-043BC32356E0}"/>
              </a:ext>
            </a:extLst>
          </p:cNvPr>
          <p:cNvSpPr>
            <a:spLocks noGrp="1"/>
          </p:cNvSpPr>
          <p:nvPr/>
        </p:nvSpPr>
        <p:spPr>
          <a:xfrm>
            <a:off x="8972550" y="40386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测焊盘热梯度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38F2646-316A-42D6-998B-9CE1E84CC928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6C17F80-4606-47DF-9F90-D667B7ED3AA6}"/>
              </a:ext>
            </a:extLst>
          </p:cNvPr>
          <p:cNvSpPr>
            <a:spLocks noGrp="1"/>
          </p:cNvSpPr>
          <p:nvPr/>
        </p:nvSpPr>
        <p:spPr>
          <a:xfrm>
            <a:off x="514350" y="46863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输入分流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2121BAA-39D2-4F11-A444-61EBA86FC2B1}"/>
              </a:ext>
            </a:extLst>
          </p:cNvPr>
          <p:cNvSpPr>
            <a:spLocks noGrp="1"/>
          </p:cNvSpPr>
          <p:nvPr/>
        </p:nvSpPr>
        <p:spPr>
          <a:xfrm>
            <a:off x="2667000" y="45720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35222F-3A7B-44DD-9C2C-1D67B2D0BB51}"/>
              </a:ext>
            </a:extLst>
          </p:cNvPr>
          <p:cNvSpPr>
            <a:spLocks noGrp="1"/>
          </p:cNvSpPr>
          <p:nvPr/>
        </p:nvSpPr>
        <p:spPr>
          <a:xfrm>
            <a:off x="2781300" y="46863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η按95%；IIN≈15.3A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4606FC7-5016-416E-8CC8-940FDCD00AC7}"/>
              </a:ext>
            </a:extLst>
          </p:cNvPr>
          <p:cNvSpPr>
            <a:spLocks noGrp="1"/>
          </p:cNvSpPr>
          <p:nvPr/>
        </p:nvSpPr>
        <p:spPr>
          <a:xfrm>
            <a:off x="5619750" y="45720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BE66BCB-1182-4EFE-94BC-E63C63B7F584}"/>
              </a:ext>
            </a:extLst>
          </p:cNvPr>
          <p:cNvSpPr>
            <a:spLocks noGrp="1"/>
          </p:cNvSpPr>
          <p:nvPr/>
        </p:nvSpPr>
        <p:spPr>
          <a:xfrm>
            <a:off x="5734050" y="46863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R12功耗≈0.58W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3C13B52-8434-4EAA-B2E3-AE46817D7DA3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F15CAD-E82F-4B8B-8799-F958A273065B}"/>
              </a:ext>
            </a:extLst>
          </p:cNvPr>
          <p:cNvSpPr>
            <a:spLocks noGrp="1"/>
          </p:cNvSpPr>
          <p:nvPr/>
        </p:nvSpPr>
        <p:spPr>
          <a:xfrm>
            <a:off x="8972550" y="46863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限流18–22A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FCE0E7E-ECB4-4597-A47E-E60922D718D1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39E671B-98AC-41E9-8EFB-DC195E9411E4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主桥导通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36026A5-93F6-4732-B9F6-B71176B6EB2C}"/>
              </a:ext>
            </a:extLst>
          </p:cNvPr>
          <p:cNvSpPr>
            <a:spLocks noGrp="1"/>
          </p:cNvSpPr>
          <p:nvPr/>
        </p:nvSpPr>
        <p:spPr>
          <a:xfrm>
            <a:off x="2667000" y="52197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7EB52A-A780-4948-A6C0-2CD388056AC4}"/>
              </a:ext>
            </a:extLst>
          </p:cNvPr>
          <p:cNvSpPr>
            <a:spLocks noGrp="1"/>
          </p:cNvSpPr>
          <p:nvPr/>
        </p:nvSpPr>
        <p:spPr>
          <a:xfrm>
            <a:off x="2781300" y="53340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4.5V RDS(on) max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CF2283D-EDAD-4922-B6FC-C6FAF8FC7F3F}"/>
              </a:ext>
            </a:extLst>
          </p:cNvPr>
          <p:cNvSpPr>
            <a:spLocks noGrp="1"/>
          </p:cNvSpPr>
          <p:nvPr/>
        </p:nvSpPr>
        <p:spPr>
          <a:xfrm>
            <a:off x="5619750" y="52197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E7CA26C-76C5-498F-8211-1DEF3199CFEE}"/>
              </a:ext>
            </a:extLst>
          </p:cNvPr>
          <p:cNvSpPr>
            <a:spLocks noGrp="1"/>
          </p:cNvSpPr>
          <p:nvPr/>
        </p:nvSpPr>
        <p:spPr>
          <a:xfrm>
            <a:off x="5734050" y="53340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25°C估算总≈1.38W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6C88CDA8-59C6-4A4B-A830-92D54521E41E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F0A3E52-77C4-4939-B1EC-A872786917D8}"/>
              </a:ext>
            </a:extLst>
          </p:cNvPr>
          <p:cNvSpPr>
            <a:spLocks noGrp="1"/>
          </p:cNvSpPr>
          <p:nvPr/>
        </p:nvSpPr>
        <p:spPr>
          <a:xfrm>
            <a:off x="8972550" y="53340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未含温升/开关损耗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FEF2437-4202-45C9-B729-1B5788F54F4B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计算假设：VIN=36V、VOUT=29V、IOUT=18A、fSW=200kHz、效率95%；首板必须用示波器、功率计和热像闭环。</a:t>
            </a:r>
          </a:p>
        </p:txBody>
      </p:sp>
    </p:spTree>
    <p:extLst>
      <p:ext uri="{BB962C8B-B14F-4D97-AF65-F5344CB8AC3E}">
        <p14:creationId xmlns:p14="http://schemas.microsoft.com/office/powerpoint/2010/main" val="1030860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顶层功率级：元件位置与大电流铜皮先看“入口—器件—出口”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左侧U1与小信号网络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中部并联半桥Q1/Q2/Q5/Q6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本地10µF/100V/1210阵列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SW向右进入L6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L6→R1→输出端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请老师沿线检查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$1N947进入电容和高边MOS是否有窄颈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低边MOS到GND回流是否同样短宽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L6/R1焊盘连接是否均匀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采样线是否从功率焊盘内侧引出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 di/dt 主开关环：$1N947—本地MLCC—上下桥—GND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本地MLCC跨$1N947与GND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高边Q2/Q5从$1N947到SW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低边Q1/Q6从SW到GND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回路面积决定尖峰/EMI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电解电容不能替代本地MLCC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具体请看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MLCC到两组MOS是否“同时近”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正向与回流铜皮是否成对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过孔是否落在电流真正换层处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两只10µF/100V新增位置是否形成有效小环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08D283-FD34-4524-A7DB-2F01545FCD1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D92FEF-7D13-483D-8D5A-3E94DF19193C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并联MOS栅极布线：对称不是外观看起来一样，而是总阻抗与回流一致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FE8E207-A1B3-4D0B-97E1-44478EE42DE7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84AC640-DBD1-4725-914F-4D447C85F3F7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28650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49B8AC-CB3B-4F73-A26B-D5043D452530}"/>
              </a:ext>
            </a:extLst>
          </p:cNvPr>
          <p:cNvSpPr>
            <a:spLocks noGrp="1"/>
          </p:cNvSpPr>
          <p:nvPr/>
        </p:nvSpPr>
        <p:spPr>
          <a:xfrm>
            <a:off x="6953250" y="14668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A69855-7393-43DC-8E81-C14D5848F249}"/>
              </a:ext>
            </a:extLst>
          </p:cNvPr>
          <p:cNvSpPr>
            <a:spLocks noGrp="1"/>
          </p:cNvSpPr>
          <p:nvPr/>
        </p:nvSpPr>
        <p:spPr>
          <a:xfrm>
            <a:off x="7105650" y="16192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FD3B9D-549F-4A3B-ADEA-25ABDF823A96}"/>
              </a:ext>
            </a:extLst>
          </p:cNvPr>
          <p:cNvSpPr>
            <a:spLocks noGrp="1"/>
          </p:cNvSpPr>
          <p:nvPr/>
        </p:nvSpPr>
        <p:spPr>
          <a:xfrm>
            <a:off x="7200900" y="16668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55E742-82E3-4723-82BE-5FBC0D969378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Q2/Q5高边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120131-FAE0-4D21-B330-673502CA794F}"/>
              </a:ext>
            </a:extLst>
          </p:cNvPr>
          <p:cNvSpPr>
            <a:spLocks noGrp="1"/>
          </p:cNvSpPr>
          <p:nvPr/>
        </p:nvSpPr>
        <p:spPr>
          <a:xfrm>
            <a:off x="8153400" y="19431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分叉点、线长、回流与BOOST参考都要一致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4D7404E-D037-4D9D-9AA7-7E505707DE82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07C5CE-3AA9-42E9-BBEC-BBD131480DC3}"/>
              </a:ext>
            </a:extLst>
          </p:cNvPr>
          <p:cNvSpPr>
            <a:spLocks noGrp="1"/>
          </p:cNvSpPr>
          <p:nvPr/>
        </p:nvSpPr>
        <p:spPr>
          <a:xfrm>
            <a:off x="7105650" y="27241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064D07-2CAF-49B4-96F5-7F9DB6F95092}"/>
              </a:ext>
            </a:extLst>
          </p:cNvPr>
          <p:cNvSpPr>
            <a:spLocks noGrp="1"/>
          </p:cNvSpPr>
          <p:nvPr/>
        </p:nvSpPr>
        <p:spPr>
          <a:xfrm>
            <a:off x="7200900" y="27717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06D440-5E22-440A-96D6-69D3D071A4FD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Q1/Q6低边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DF8D69-84C3-4502-A44E-FCDEF2D5EB49}"/>
              </a:ext>
            </a:extLst>
          </p:cNvPr>
          <p:cNvSpPr>
            <a:spLocks noGrp="1"/>
          </p:cNvSpPr>
          <p:nvPr/>
        </p:nvSpPr>
        <p:spPr>
          <a:xfrm>
            <a:off x="8153400" y="30480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驱动回流应回U1地，避免借用大功率地压降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2560F65-8D4D-4673-948A-9536DA5572E6}"/>
              </a:ext>
            </a:extLst>
          </p:cNvPr>
          <p:cNvSpPr>
            <a:spLocks noGrp="1"/>
          </p:cNvSpPr>
          <p:nvPr/>
        </p:nvSpPr>
        <p:spPr>
          <a:xfrm>
            <a:off x="6953250" y="36766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F6B4126-D780-4463-BA34-66BCB58B8844}"/>
              </a:ext>
            </a:extLst>
          </p:cNvPr>
          <p:cNvSpPr>
            <a:spLocks noGrp="1"/>
          </p:cNvSpPr>
          <p:nvPr/>
        </p:nvSpPr>
        <p:spPr>
          <a:xfrm>
            <a:off x="7105650" y="38290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43A7F-BDC1-4AC4-8879-24E32D7145FE}"/>
              </a:ext>
            </a:extLst>
          </p:cNvPr>
          <p:cNvSpPr>
            <a:spLocks noGrp="1"/>
          </p:cNvSpPr>
          <p:nvPr/>
        </p:nvSpPr>
        <p:spPr>
          <a:xfrm>
            <a:off x="7200900" y="38766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2BDF21-9DFF-4B24-B621-0E677D0E2262}"/>
              </a:ext>
            </a:extLst>
          </p:cNvPr>
          <p:cNvSpPr>
            <a:spLocks noGrp="1"/>
          </p:cNvSpPr>
          <p:nvPr/>
        </p:nvSpPr>
        <p:spPr>
          <a:xfrm>
            <a:off x="8153400" y="38290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公共源电感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AEFFBF-7EFC-4837-B2F8-E27F10AA80BF}"/>
              </a:ext>
            </a:extLst>
          </p:cNvPr>
          <p:cNvSpPr>
            <a:spLocks noGrp="1"/>
          </p:cNvSpPr>
          <p:nvPr/>
        </p:nvSpPr>
        <p:spPr>
          <a:xfrm>
            <a:off x="8153400" y="41529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共享窄颈会把电流变化反馈到VGS形成不均流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0381C6B-C611-42AF-A308-21A376EBCBCE}"/>
              </a:ext>
            </a:extLst>
          </p:cNvPr>
          <p:cNvSpPr>
            <a:spLocks noGrp="1"/>
          </p:cNvSpPr>
          <p:nvPr/>
        </p:nvSpPr>
        <p:spPr>
          <a:xfrm>
            <a:off x="6953250" y="47815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2F937B7-1AAF-45BB-85CC-E7064F5641C0}"/>
              </a:ext>
            </a:extLst>
          </p:cNvPr>
          <p:cNvSpPr>
            <a:spLocks noGrp="1"/>
          </p:cNvSpPr>
          <p:nvPr/>
        </p:nvSpPr>
        <p:spPr>
          <a:xfrm>
            <a:off x="7105650" y="49339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ACD0A7-BDEA-431B-9AB9-7869DF5A29AF}"/>
              </a:ext>
            </a:extLst>
          </p:cNvPr>
          <p:cNvSpPr>
            <a:spLocks noGrp="1"/>
          </p:cNvSpPr>
          <p:nvPr/>
        </p:nvSpPr>
        <p:spPr>
          <a:xfrm>
            <a:off x="7200900" y="49815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0F82B7-A01C-4B24-AE33-D6D254611A31}"/>
              </a:ext>
            </a:extLst>
          </p:cNvPr>
          <p:cNvSpPr>
            <a:spLocks noGrp="1"/>
          </p:cNvSpPr>
          <p:nvPr/>
        </p:nvSpPr>
        <p:spPr>
          <a:xfrm>
            <a:off x="8153400" y="49339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四路同时测温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6896B2-A3BE-400D-8F29-7ADB6EA18B40}"/>
              </a:ext>
            </a:extLst>
          </p:cNvPr>
          <p:cNvSpPr>
            <a:spLocks noGrp="1"/>
          </p:cNvSpPr>
          <p:nvPr/>
        </p:nvSpPr>
        <p:spPr>
          <a:xfrm>
            <a:off x="8153400" y="52578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至少比较两只高边、两只低边的栅波形与热像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9675" y="1466850"/>
            <a:ext cx="3707251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9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R1与R12的Kelvin采样：大电流铜皮和测量线必须在焊盘处“分家”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R1测输出18A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R12测平均输入电流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两侧采样线成对、靠近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不能跨SW下方或跟栅极并行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滤波器应靠近U1引脚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通过标准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采样线从电阻端帽/焊盘内侧引出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采样回路不承担功率电流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两线环境对称，外部磁场耦合相近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满载时示波器看不到明显开关假脉冲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SW节点：底层大铜已删除，仍要审面积、过孔和邻近敏感线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SW只服务MOS→L6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不为“过流”盲目铺四层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大SW铜会增加共模电容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过小又会增大损耗/温升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示波器只用小焊盘+地弹簧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当前方向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底层大面积SW已经删除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顶层保留主功率连接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内层只在确有电流/热扩散收益时进入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敏感采样、FB、VC避免跨越SW投影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B33ADA9-CE8B-4823-8A51-5190D653113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613C53-43EC-43A3-B943-541AA079157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四层电流路径：大电流网络可以多层，但每层都要有明确入口和出口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7F23135-0297-4AA5-BBB8-18F22CE07346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0AEA610-8D98-4E85-A1F7-3D86B89DDCAF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38862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FEC37E5-2769-44C2-AFB6-20CF722D61EF}"/>
              </a:ext>
            </a:extLst>
          </p:cNvPr>
          <p:cNvSpPr>
            <a:spLocks noGrp="1"/>
          </p:cNvSpPr>
          <p:nvPr/>
        </p:nvSpPr>
        <p:spPr>
          <a:xfrm>
            <a:off x="6000750" y="1466850"/>
            <a:ext cx="5791200" cy="38862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35090" y="1466850"/>
            <a:ext cx="4922520" cy="3886200"/>
          </a:xfrm>
          <a:prstGeom prst="roundRect">
            <a:avLst>
              <a:gd name="adj" fmla="val 2941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3EEB6F-17B9-4825-A602-CB6675A3E4EF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4476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D3385D-A6D5-4FDA-8B7F-B7D7163BB339}"/>
              </a:ext>
            </a:extLst>
          </p:cNvPr>
          <p:cNvSpPr>
            <a:spLocks noGrp="1"/>
          </p:cNvSpPr>
          <p:nvPr/>
        </p:nvSpPr>
        <p:spPr>
          <a:xfrm>
            <a:off x="971550" y="553402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顶层：器件焊盘、主路径与局部闭环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A4E857-1186-4973-995D-323169184615}"/>
              </a:ext>
            </a:extLst>
          </p:cNvPr>
          <p:cNvSpPr>
            <a:spLocks noGrp="1"/>
          </p:cNvSpPr>
          <p:nvPr/>
        </p:nvSpPr>
        <p:spPr>
          <a:xfrm>
            <a:off x="6572250" y="5486400"/>
            <a:ext cx="464820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583668-F098-4A5F-8D57-8BF9EE659DDB}"/>
              </a:ext>
            </a:extLst>
          </p:cNvPr>
          <p:cNvSpPr>
            <a:spLocks noGrp="1"/>
          </p:cNvSpPr>
          <p:nvPr/>
        </p:nvSpPr>
        <p:spPr>
          <a:xfrm>
            <a:off x="6667500" y="5534025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内层：$1N947/GND等大面分流与热扩散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4D8564-4C91-4624-9EF3-6EDB1962183F}"/>
              </a:ext>
            </a:extLst>
          </p:cNvPr>
          <p:cNvSpPr>
            <a:spLocks noGrp="1"/>
          </p:cNvSpPr>
          <p:nvPr/>
        </p:nvSpPr>
        <p:spPr>
          <a:xfrm>
            <a:off x="400050" y="6000750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$1N947已在顶层和L3以同网铜皮+过孔阵列相连；这能分流，但需核实过孔位置是否处在真实电流路径。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A009BF-0C2E-48CA-8BCA-6C74B73DFE3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ctr">
              <a:buNone/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原则：DCBUS、GND、VCC_OUT适合多层；SW和Kelvin线不应仅为增铜而跨四层。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415" y="1466850"/>
            <a:ext cx="4922520" cy="38862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48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B33ADA9-CE8B-4823-8A51-5190D6531134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613C53-43EC-43A3-B943-541AA079157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L3、底层和过孔：0.6/0.3mm阵列够不够要看数量、孔铜和拥挤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7F23135-0297-4AA5-BBB8-18F22CE07346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0AEA610-8D98-4E85-A1F7-3D86B89DDCAF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429250" cy="38862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FEC37E5-2769-44C2-AFB6-20CF722D61EF}"/>
              </a:ext>
            </a:extLst>
          </p:cNvPr>
          <p:cNvSpPr>
            <a:spLocks noGrp="1"/>
          </p:cNvSpPr>
          <p:nvPr/>
        </p:nvSpPr>
        <p:spPr>
          <a:xfrm>
            <a:off x="6000750" y="1466850"/>
            <a:ext cx="5791200" cy="38862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35090" y="1466850"/>
            <a:ext cx="4922520" cy="3886200"/>
          </a:xfrm>
          <a:prstGeom prst="roundRect">
            <a:avLst>
              <a:gd name="adj" fmla="val 2941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3EEB6F-17B9-4825-A602-CB6675A3E4EF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4476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D3385D-A6D5-4FDA-8B7F-B7D7163BB339}"/>
              </a:ext>
            </a:extLst>
          </p:cNvPr>
          <p:cNvSpPr>
            <a:spLocks noGrp="1"/>
          </p:cNvSpPr>
          <p:nvPr/>
        </p:nvSpPr>
        <p:spPr>
          <a:xfrm>
            <a:off x="971550" y="5534025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L3：主电源/地铜皮与顶层协同分流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A4E857-1186-4973-995D-323169184615}"/>
              </a:ext>
            </a:extLst>
          </p:cNvPr>
          <p:cNvSpPr>
            <a:spLocks noGrp="1"/>
          </p:cNvSpPr>
          <p:nvPr/>
        </p:nvSpPr>
        <p:spPr>
          <a:xfrm>
            <a:off x="6572250" y="5486400"/>
            <a:ext cx="464820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583668-F098-4A5F-8D57-8BF9EE659DDB}"/>
              </a:ext>
            </a:extLst>
          </p:cNvPr>
          <p:cNvSpPr>
            <a:spLocks noGrp="1"/>
          </p:cNvSpPr>
          <p:nvPr/>
        </p:nvSpPr>
        <p:spPr>
          <a:xfrm>
            <a:off x="6667500" y="5534025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底层：回流、辅助跨层；避免形成大SW天线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4D8564-4C91-4624-9EF3-6EDB1962183F}"/>
              </a:ext>
            </a:extLst>
          </p:cNvPr>
          <p:cNvSpPr>
            <a:spLocks noGrp="1"/>
          </p:cNvSpPr>
          <p:nvPr/>
        </p:nvSpPr>
        <p:spPr>
          <a:xfrm>
            <a:off x="400050" y="6000750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下单计划全层2oz；但孔壁铜厚不是“2oz平面”自动等同，需要向嘉立创确认孔铜能力与成品公差。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A009BF-0C2E-48CA-8BCA-6C74B73DFE3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ctr">
              <a:buNone/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盘中孔确定采用树脂塞孔＋电镀盖孔；钢网对大散热焊盘要分窗，避免漂移、空洞和锡量失控。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415" y="1466850"/>
            <a:ext cx="4922520" cy="38862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48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08D283-FD34-4524-A7DB-2F01545FCD1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D92FEF-7D13-483D-8D5A-3E94DF19193C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输入保护区：TVS、反接、两只P-MOS过压关断和RC阻尼的动态配合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FE8E207-A1B3-4D0B-97E1-44478EE42DE7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84AC640-DBD1-4725-914F-4D447C85F3F7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628650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49B8AC-CB3B-4F73-A26B-D5043D452530}"/>
              </a:ext>
            </a:extLst>
          </p:cNvPr>
          <p:cNvSpPr>
            <a:spLocks noGrp="1"/>
          </p:cNvSpPr>
          <p:nvPr/>
        </p:nvSpPr>
        <p:spPr>
          <a:xfrm>
            <a:off x="6953250" y="14668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A69855-7393-43DC-8E81-C14D5848F249}"/>
              </a:ext>
            </a:extLst>
          </p:cNvPr>
          <p:cNvSpPr>
            <a:spLocks noGrp="1"/>
          </p:cNvSpPr>
          <p:nvPr/>
        </p:nvSpPr>
        <p:spPr>
          <a:xfrm>
            <a:off x="7105650" y="16192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FD3B9D-549F-4A3B-ADEA-25ABDF823A96}"/>
              </a:ext>
            </a:extLst>
          </p:cNvPr>
          <p:cNvSpPr>
            <a:spLocks noGrp="1"/>
          </p:cNvSpPr>
          <p:nvPr/>
        </p:nvSpPr>
        <p:spPr>
          <a:xfrm>
            <a:off x="7200900" y="16668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55E742-82E3-4723-82BE-5FBC0D969378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SMCJ36CA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120131-FAE0-4D21-B330-673502CA794F}"/>
              </a:ext>
            </a:extLst>
          </p:cNvPr>
          <p:cNvSpPr>
            <a:spLocks noGrp="1"/>
          </p:cNvSpPr>
          <p:nvPr/>
        </p:nvSpPr>
        <p:spPr>
          <a:xfrm>
            <a:off x="8153400" y="19431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283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VRWM=36V；最大钳位58.1V；位置/回流决定实际效果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4D7404E-D037-4D9D-9AA7-7E505707DE82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07C5CE-3AA9-42E9-BBEC-BBD131480DC3}"/>
              </a:ext>
            </a:extLst>
          </p:cNvPr>
          <p:cNvSpPr>
            <a:spLocks noGrp="1"/>
          </p:cNvSpPr>
          <p:nvPr/>
        </p:nvSpPr>
        <p:spPr>
          <a:xfrm>
            <a:off x="7105650" y="27241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064D07-2CAF-49B4-96F5-7F9DB6F95092}"/>
              </a:ext>
            </a:extLst>
          </p:cNvPr>
          <p:cNvSpPr>
            <a:spLocks noGrp="1"/>
          </p:cNvSpPr>
          <p:nvPr/>
        </p:nvSpPr>
        <p:spPr>
          <a:xfrm>
            <a:off x="7200900" y="27717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Q3/Q12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06D440-5E22-440A-96D6-69D3D071A4FD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SUM110P08 80V P-MOS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DF8D69-84C3-4502-A44E-FCDEF2D5EB49}"/>
              </a:ext>
            </a:extLst>
          </p:cNvPr>
          <p:cNvSpPr>
            <a:spLocks noGrp="1"/>
          </p:cNvSpPr>
          <p:nvPr/>
        </p:nvSpPr>
        <p:spPr>
          <a:xfrm>
            <a:off x="8153400" y="30480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并联输入通断；导通损耗与热插拔SOA均需验证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2560F65-8D4D-4673-948A-9536DA5572E6}"/>
              </a:ext>
            </a:extLst>
          </p:cNvPr>
          <p:cNvSpPr>
            <a:spLocks noGrp="1"/>
          </p:cNvSpPr>
          <p:nvPr/>
        </p:nvSpPr>
        <p:spPr>
          <a:xfrm>
            <a:off x="6953250" y="36766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F6B4126-D780-4463-BA34-66BCB58B8844}"/>
              </a:ext>
            </a:extLst>
          </p:cNvPr>
          <p:cNvSpPr>
            <a:spLocks noGrp="1"/>
          </p:cNvSpPr>
          <p:nvPr/>
        </p:nvSpPr>
        <p:spPr>
          <a:xfrm>
            <a:off x="7105650" y="38290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243A7F-BDC1-4AC4-8879-24E32D7145FE}"/>
              </a:ext>
            </a:extLst>
          </p:cNvPr>
          <p:cNvSpPr>
            <a:spLocks noGrp="1"/>
          </p:cNvSpPr>
          <p:nvPr/>
        </p:nvSpPr>
        <p:spPr>
          <a:xfrm>
            <a:off x="7200900" y="38766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U7/Q11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2BDF21-9DFF-4B24-B621-0E677D0E2262}"/>
              </a:ext>
            </a:extLst>
          </p:cNvPr>
          <p:cNvSpPr>
            <a:spLocks noGrp="1"/>
          </p:cNvSpPr>
          <p:nvPr/>
        </p:nvSpPr>
        <p:spPr>
          <a:xfrm>
            <a:off x="8153400" y="38290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43V检测+关断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AEFFBF-7EFC-4837-B2F8-E27F10AA80BF}"/>
              </a:ext>
            </a:extLst>
          </p:cNvPr>
          <p:cNvSpPr>
            <a:spLocks noGrp="1"/>
          </p:cNvSpPr>
          <p:nvPr/>
        </p:nvSpPr>
        <p:spPr>
          <a:xfrm>
            <a:off x="8153400" y="41529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390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R8=100k使齐纳工作电流偏小，阈值与速度不精确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0381C6B-C611-42AF-A308-21A376EBCBCE}"/>
              </a:ext>
            </a:extLst>
          </p:cNvPr>
          <p:cNvSpPr>
            <a:spLocks noGrp="1"/>
          </p:cNvSpPr>
          <p:nvPr/>
        </p:nvSpPr>
        <p:spPr>
          <a:xfrm>
            <a:off x="6953250" y="4781550"/>
            <a:ext cx="4838700" cy="962025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2F937B7-1AAF-45BB-85CC-E7064F5641C0}"/>
              </a:ext>
            </a:extLst>
          </p:cNvPr>
          <p:cNvSpPr>
            <a:spLocks noGrp="1"/>
          </p:cNvSpPr>
          <p:nvPr/>
        </p:nvSpPr>
        <p:spPr>
          <a:xfrm>
            <a:off x="7105650" y="493395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ACD0A7-BDEA-431B-9AB9-7869DF5A29AF}"/>
              </a:ext>
            </a:extLst>
          </p:cNvPr>
          <p:cNvSpPr>
            <a:spLocks noGrp="1"/>
          </p:cNvSpPr>
          <p:nvPr/>
        </p:nvSpPr>
        <p:spPr>
          <a:xfrm>
            <a:off x="7200900" y="498157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R6/C5等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0F82B7-A01C-4B24-AE33-D6D254611A31}"/>
              </a:ext>
            </a:extLst>
          </p:cNvPr>
          <p:cNvSpPr>
            <a:spLocks noGrp="1"/>
          </p:cNvSpPr>
          <p:nvPr/>
        </p:nvSpPr>
        <p:spPr>
          <a:xfrm>
            <a:off x="8153400" y="4933950"/>
            <a:ext cx="1695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296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0.3Ω+100µF串联阻尼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6896B2-A3BE-400D-8F29-7ADB6EA18B40}"/>
              </a:ext>
            </a:extLst>
          </p:cNvPr>
          <p:cNvSpPr>
            <a:spLocks noGrp="1"/>
          </p:cNvSpPr>
          <p:nvPr/>
        </p:nvSpPr>
        <p:spPr>
          <a:xfrm>
            <a:off x="8153400" y="52578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17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每支路理想36V阶跃能量64.8mJ，电阻必须有脉冲曲线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9675" y="1466850"/>
            <a:ext cx="3707251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9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62"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Q3/Q12 = SUM110P08：80V P-MOS导通够低，但热插拔必须看线性SOA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VDS=−80V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RDS(on)=14.5mΩ@−4.5V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Qg typ 85nC@−4.5V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两只并联承受约15.3A输入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TO-263散热焊盘需正确钢网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不是只算I²R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并联导通约每只7.6A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25°C导通损耗量级≈0.42W/只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热插拔时可能进入线性区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SOA取决于VDS、脉宽、壳温和关断速度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2000" t="2000" r="2000" b="5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54"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U7 = BZT52C43：43V值只在规定测试电流下成立，R8=100k会让阈值变软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C43工作电压40–46V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表中测试电流Iz=2mA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动态电阻随电流变化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R8=100k限制可用齐纳电流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实际关断点受Q11/R9/C7/C8影响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当前建议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不把43V当精确比较器阈值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台架慢升压测静态关断点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叠加快速脉冲测动作延迟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若阈值一致性重要，考虑专用高压监控器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3000" t="49000" r="3000" b="4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D6与两组RC阻尼：一个限制尖峰电压，一个吸收/阻尼输入阶跃能量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3771900" y="3028950"/>
            <a:ext cx="4591050" cy="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6076950" y="2019300"/>
            <a:ext cx="0" cy="2914650"/>
          </a:xfrm>
          <a:prstGeom prst="straightConnector1">
            <a:avLst/>
          </a:prstGeom>
          <a:ln w="19050">
            <a:solidFill>
              <a:srgbClr val="D9DEE5"/>
            </a:solidFill>
            <a:prstDash val="solid"/>
          </a:ln>
        </p:spPr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895600" cy="137160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noGrp="1"/>
          </p:cNvSpPr>
          <p:nvPr/>
        </p:nvSpPr>
        <p:spPr>
          <a:xfrm>
            <a:off x="5010150" y="25908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输入瞬态协调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noGrp="1"/>
          </p:cNvSpPr>
          <p:nvPr/>
        </p:nvSpPr>
        <p:spPr>
          <a:xfrm>
            <a:off x="4933950" y="3124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17"/>
          </a:bodyPr>
          <a:lstStyle/>
          <a:p>
            <a:pPr algn="ctr">
              <a:buNone/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SMCJ36CA + 2×(0.3Ω串100µF)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TVS数据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VRWM=36V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VBR=40–44.2V@1mA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最坏钳位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VC(max)=58.1V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IPP=25.9A(10/1000µs)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noGrp="1"/>
          </p:cNvSpPr>
          <p:nvPr/>
        </p:nvSpPr>
        <p:spPr>
          <a:xfrm>
            <a:off x="8553450" y="16192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noGrp="1"/>
          </p:cNvSpPr>
          <p:nvPr/>
        </p:nvSpPr>
        <p:spPr>
          <a:xfrm>
            <a:off x="8743950" y="1809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单支路能量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½CV²=64.8mJ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理想初始I=120A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noGrp="1"/>
          </p:cNvSpPr>
          <p:nvPr/>
        </p:nvSpPr>
        <p:spPr>
          <a:xfrm>
            <a:off x="8553450" y="4095750"/>
            <a:ext cx="3238500" cy="1447800"/>
          </a:xfrm>
          <a:prstGeom prst="roundRect">
            <a:avLst>
              <a:gd name="adj" fmla="val 7895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电阻脉冲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noGrp="1"/>
          </p:cNvSpPr>
          <p:nvPr/>
        </p:nvSpPr>
        <p:spPr>
          <a:xfrm>
            <a:off x="8743950" y="4724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理想初始P=4.32kW</a:t>
            </a:r>
          </a:p>
          <a:p>
            <a:pPr algn="l">
              <a:buNone/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τ=RC=30µs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noGrp="1"/>
          </p:cNvSpPr>
          <p:nvPr/>
        </p:nvSpPr>
        <p:spPr>
          <a:xfrm>
            <a:off x="3924300" y="5124450"/>
            <a:ext cx="4305300" cy="30480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noGrp="1"/>
          </p:cNvSpPr>
          <p:nvPr/>
        </p:nvSpPr>
        <p:spPr>
          <a:xfrm>
            <a:off x="4019550" y="5172075"/>
            <a:ext cx="411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不能直接得出“加几个RC”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44"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先测/算线束L、输入电容、接入方式和重复频率，再按电阻脉冲曲线与TVS能量分配决定参数。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LM5164 36V→12V辅助电源：C25=2.2nF需要用轻载和瞬态来定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7067550" cy="4495800"/>
          </a:xfrm>
          <a:prstGeom prst="roundRect">
            <a:avLst>
              <a:gd name="adj" fmla="val 2542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noGrp="1"/>
          </p:cNvSpPr>
          <p:nvPr/>
        </p:nvSpPr>
        <p:spPr>
          <a:xfrm>
            <a:off x="7772400" y="15811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noGrp="1"/>
          </p:cNvSpPr>
          <p:nvPr/>
        </p:nvSpPr>
        <p:spPr>
          <a:xfrm>
            <a:off x="7867650" y="16287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LM5164输入范围足够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noGrp="1"/>
          </p:cNvSpPr>
          <p:nvPr/>
        </p:nvSpPr>
        <p:spPr>
          <a:xfrm>
            <a:off x="7772400" y="20764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noGrp="1"/>
          </p:cNvSpPr>
          <p:nvPr/>
        </p:nvSpPr>
        <p:spPr>
          <a:xfrm>
            <a:off x="7867650" y="21240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当前R28=100k，fSW约300kHz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noGrp="1"/>
          </p:cNvSpPr>
          <p:nvPr/>
        </p:nvSpPr>
        <p:spPr>
          <a:xfrm>
            <a:off x="7867650" y="26193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R13=453k，C22=3.3nF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noGrp="1"/>
          </p:cNvSpPr>
          <p:nvPr/>
        </p:nvSpPr>
        <p:spPr>
          <a:xfrm>
            <a:off x="7772400" y="30670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noGrp="1"/>
          </p:cNvSpPr>
          <p:nvPr/>
        </p:nvSpPr>
        <p:spPr>
          <a:xfrm>
            <a:off x="7867650" y="31146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C25=2.2nF与典型值差异大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noGrp="1"/>
          </p:cNvSpPr>
          <p:nvPr/>
        </p:nvSpPr>
        <p:spPr>
          <a:xfrm>
            <a:off x="7772400" y="3562350"/>
            <a:ext cx="3333750" cy="304800"/>
          </a:xfrm>
          <a:prstGeom prst="roundRect">
            <a:avLst>
              <a:gd name="adj" fmla="val 50000"/>
            </a:avLst>
          </a:prstGeom>
          <a:solidFill>
            <a:srgbClr val="EAF5FB"/>
          </a:solidFill>
          <a:ln w="9525">
            <a:solidFill>
              <a:srgbClr val="EAF5F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官方同样强调最小高di/dt环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noGrp="1"/>
          </p:cNvSpPr>
          <p:nvPr/>
        </p:nvSpPr>
        <p:spPr>
          <a:xfrm>
            <a:off x="7772400" y="4229100"/>
            <a:ext cx="3790950" cy="1733550"/>
          </a:xfrm>
          <a:prstGeom prst="roundRect">
            <a:avLst>
              <a:gd name="adj" fmla="val 6593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noGrp="1"/>
          </p:cNvSpPr>
          <p:nvPr/>
        </p:nvSpPr>
        <p:spPr>
          <a:xfrm>
            <a:off x="7981950" y="4419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首板不盲目改值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noGrp="1"/>
          </p:cNvSpPr>
          <p:nvPr/>
        </p:nvSpPr>
        <p:spPr>
          <a:xfrm>
            <a:off x="7981950" y="4810125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422"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先测12V轻载/空载纹波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观察跳脉冲或低频摆动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做负载阶跃与启动波形</a:t>
            </a:r>
          </a:p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若异常，再按数据手册重新算Type-III纹波注入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l="5000" t="12000" r="5000" b="28000"/>
          <a:stretch/>
        </p:blipFill>
        <p:spPr>
          <a:xfrm>
            <a:off x="850991" y="1466850"/>
            <a:ext cx="6165669" cy="44958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5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8120B20-4E74-46A8-B066-60EE32687621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898A64-F980-421C-B629-AA5656BCD64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制造、装配与可测性：这些不属于DRC，但会直接决定样机是否可调</a:t>
            </a: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D7C452B-3057-4FA3-BE50-75BCE74FD5DE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D4A24-ADE2-426A-8689-91C6E478F609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24AF40-8C98-44FF-8EDD-82A8C4081E25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5C7E26-528F-482E-91E2-386727008A40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9B4D9-F35A-4D28-9DC5-1AC5832CA485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全层2oz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2A0BF6-5F89-4ACA-9F61-E9265A02B0DA}"/>
              </a:ext>
            </a:extLst>
          </p:cNvPr>
          <p:cNvSpPr>
            <a:spLocks noGrp="1"/>
          </p:cNvSpPr>
          <p:nvPr/>
        </p:nvSpPr>
        <p:spPr>
          <a:xfrm>
            <a:off x="4305300" y="16859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确认嘉立创下单层叠、成品铜厚和阻抗/介质参数与设计假设一致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CECBD7B-6E5C-4016-B234-651CF8B21491}"/>
              </a:ext>
            </a:extLst>
          </p:cNvPr>
          <p:cNvSpPr>
            <a:spLocks noGrp="1"/>
          </p:cNvSpPr>
          <p:nvPr/>
        </p:nvSpPr>
        <p:spPr>
          <a:xfrm>
            <a:off x="10572750" y="17621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D45217-5475-4740-89F0-6C8672DD6DFD}"/>
              </a:ext>
            </a:extLst>
          </p:cNvPr>
          <p:cNvSpPr>
            <a:spLocks noGrp="1"/>
          </p:cNvSpPr>
          <p:nvPr/>
        </p:nvSpPr>
        <p:spPr>
          <a:xfrm>
            <a:off x="10668000" y="18097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必确认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F5E47C2-E852-4A47-95F2-0B3AA60A394F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4658767-3A31-4E2B-B46D-E86057AB05CC}"/>
              </a:ext>
            </a:extLst>
          </p:cNvPr>
          <p:cNvSpPr>
            <a:spLocks noGrp="1"/>
          </p:cNvSpPr>
          <p:nvPr/>
        </p:nvSpPr>
        <p:spPr>
          <a:xfrm>
            <a:off x="495300" y="24384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E758E0-8A29-4E3C-B476-CF328510FA4E}"/>
              </a:ext>
            </a:extLst>
          </p:cNvPr>
          <p:cNvSpPr>
            <a:spLocks noGrp="1"/>
          </p:cNvSpPr>
          <p:nvPr/>
        </p:nvSpPr>
        <p:spPr>
          <a:xfrm>
            <a:off x="495300" y="25050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384176-4DC7-4C2E-A411-875213E5C7F7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盘中孔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53C02A-1D40-4C98-B872-0A59A2E75BD2}"/>
              </a:ext>
            </a:extLst>
          </p:cNvPr>
          <p:cNvSpPr>
            <a:spLocks noGrp="1"/>
          </p:cNvSpPr>
          <p:nvPr/>
        </p:nvSpPr>
        <p:spPr>
          <a:xfrm>
            <a:off x="4305300" y="24288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采用树脂塞孔＋电镀盖孔；列出涉及的焊盘与孔径，防止漏选工艺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EF82F2-DC70-40FF-A394-431557C3DD21}"/>
              </a:ext>
            </a:extLst>
          </p:cNvPr>
          <p:cNvSpPr>
            <a:spLocks noGrp="1"/>
          </p:cNvSpPr>
          <p:nvPr/>
        </p:nvSpPr>
        <p:spPr>
          <a:xfrm>
            <a:off x="10572750" y="25050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701410-264C-4B9E-9B01-683A539C8961}"/>
              </a:ext>
            </a:extLst>
          </p:cNvPr>
          <p:cNvSpPr>
            <a:spLocks noGrp="1"/>
          </p:cNvSpPr>
          <p:nvPr/>
        </p:nvSpPr>
        <p:spPr>
          <a:xfrm>
            <a:off x="10668000" y="25527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必确认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8E29720-3CA8-4018-A40F-9256C534E9B6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61EAAAA-D7D4-4B43-AA26-480BEEFDBFE6}"/>
              </a:ext>
            </a:extLst>
          </p:cNvPr>
          <p:cNvSpPr>
            <a:spLocks noGrp="1"/>
          </p:cNvSpPr>
          <p:nvPr/>
        </p:nvSpPr>
        <p:spPr>
          <a:xfrm>
            <a:off x="495300" y="3181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A9884C-519C-45C6-B89D-34B1FEC2E897}"/>
              </a:ext>
            </a:extLst>
          </p:cNvPr>
          <p:cNvSpPr>
            <a:spLocks noGrp="1"/>
          </p:cNvSpPr>
          <p:nvPr/>
        </p:nvSpPr>
        <p:spPr>
          <a:xfrm>
            <a:off x="495300" y="32480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3D53DB-708B-4BA5-A422-AAFF62F9DD17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钢网分窗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CA776A-6BF4-41C1-968C-4066BF130E5D}"/>
              </a:ext>
            </a:extLst>
          </p:cNvPr>
          <p:cNvSpPr>
            <a:spLocks noGrp="1"/>
          </p:cNvSpPr>
          <p:nvPr/>
        </p:nvSpPr>
        <p:spPr>
          <a:xfrm>
            <a:off x="4305300" y="31718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Q3/Q12、主MOS、U1裸露焊盘等大焊盘不能整块开孔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BA9D82B-43D6-47BB-847B-6AE31AC41E88}"/>
              </a:ext>
            </a:extLst>
          </p:cNvPr>
          <p:cNvSpPr>
            <a:spLocks noGrp="1"/>
          </p:cNvSpPr>
          <p:nvPr/>
        </p:nvSpPr>
        <p:spPr>
          <a:xfrm>
            <a:off x="10572750" y="32480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2671F7-C13D-4FA4-9DFA-2CBFF83E7026}"/>
              </a:ext>
            </a:extLst>
          </p:cNvPr>
          <p:cNvSpPr>
            <a:spLocks noGrp="1"/>
          </p:cNvSpPr>
          <p:nvPr/>
        </p:nvSpPr>
        <p:spPr>
          <a:xfrm>
            <a:off x="10668000" y="32956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必做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4224FAE-4B08-4330-985B-F7FE15EF6B2C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C2502DD-960F-4017-952A-2BA2C6C933E8}"/>
              </a:ext>
            </a:extLst>
          </p:cNvPr>
          <p:cNvSpPr>
            <a:spLocks noGrp="1"/>
          </p:cNvSpPr>
          <p:nvPr/>
        </p:nvSpPr>
        <p:spPr>
          <a:xfrm>
            <a:off x="495300" y="3924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1074B4-ED2E-45CA-B781-78083400862E}"/>
              </a:ext>
            </a:extLst>
          </p:cNvPr>
          <p:cNvSpPr>
            <a:spLocks noGrp="1"/>
          </p:cNvSpPr>
          <p:nvPr/>
        </p:nvSpPr>
        <p:spPr>
          <a:xfrm>
            <a:off x="495300" y="39909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8B5071-B772-4BFD-B7A5-E89478855F93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DNP状态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262AE2-1297-4AF9-959A-1A39C78D211A}"/>
              </a:ext>
            </a:extLst>
          </p:cNvPr>
          <p:cNvSpPr>
            <a:spLocks noGrp="1"/>
          </p:cNvSpPr>
          <p:nvPr/>
        </p:nvSpPr>
        <p:spPr>
          <a:xfrm>
            <a:off x="4305300" y="39147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C85、R33、R34等NC/DNP必须在BOM、坐标、丝印、贴装文件一致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17A4EA0-D2DE-4ED5-AA95-9EC00DC85C68}"/>
              </a:ext>
            </a:extLst>
          </p:cNvPr>
          <p:cNvSpPr>
            <a:spLocks noGrp="1"/>
          </p:cNvSpPr>
          <p:nvPr/>
        </p:nvSpPr>
        <p:spPr>
          <a:xfrm>
            <a:off x="10572750" y="39909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89BEE0-21B6-4313-BFB3-F58600A1F894}"/>
              </a:ext>
            </a:extLst>
          </p:cNvPr>
          <p:cNvSpPr>
            <a:spLocks noGrp="1"/>
          </p:cNvSpPr>
          <p:nvPr/>
        </p:nvSpPr>
        <p:spPr>
          <a:xfrm>
            <a:off x="10668000" y="40386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必确认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317323-DED7-484D-AEEC-EE96AA83AC49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E86023-C4D4-49B0-9A7C-0B62A877B691}"/>
              </a:ext>
            </a:extLst>
          </p:cNvPr>
          <p:cNvSpPr>
            <a:spLocks noGrp="1"/>
          </p:cNvSpPr>
          <p:nvPr/>
        </p:nvSpPr>
        <p:spPr>
          <a:xfrm>
            <a:off x="495300" y="46672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16FC0D-BD6C-4CAF-8BFC-9C16EAECDD2C}"/>
              </a:ext>
            </a:extLst>
          </p:cNvPr>
          <p:cNvSpPr>
            <a:spLocks noGrp="1"/>
          </p:cNvSpPr>
          <p:nvPr/>
        </p:nvSpPr>
        <p:spPr>
          <a:xfrm>
            <a:off x="495300" y="47339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F1418-0D00-4A98-B1A6-86DF657E0AF0}"/>
              </a:ext>
            </a:extLst>
          </p:cNvPr>
          <p:cNvSpPr>
            <a:spLocks noGrp="1"/>
          </p:cNvSpPr>
          <p:nvPr/>
        </p:nvSpPr>
        <p:spPr>
          <a:xfrm>
            <a:off x="1104900" y="46672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测试焊盘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E5F67E-6291-4EF4-A25A-EAE80D5BF701}"/>
              </a:ext>
            </a:extLst>
          </p:cNvPr>
          <p:cNvSpPr>
            <a:spLocks noGrp="1"/>
          </p:cNvSpPr>
          <p:nvPr/>
        </p:nvSpPr>
        <p:spPr>
          <a:xfrm>
            <a:off x="4305300" y="46577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SW/GND用小示波器焊盘；普通电源/逻辑可用1.27mm圆焊盘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70F0811-1F8C-44EC-9132-A3EB31991D4A}"/>
              </a:ext>
            </a:extLst>
          </p:cNvPr>
          <p:cNvSpPr>
            <a:spLocks noGrp="1"/>
          </p:cNvSpPr>
          <p:nvPr/>
        </p:nvSpPr>
        <p:spPr>
          <a:xfrm>
            <a:off x="10572750" y="47339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3B66D9B-4EE4-49CA-A9E5-35C90C347DA9}"/>
              </a:ext>
            </a:extLst>
          </p:cNvPr>
          <p:cNvSpPr>
            <a:spLocks noGrp="1"/>
          </p:cNvSpPr>
          <p:nvPr/>
        </p:nvSpPr>
        <p:spPr>
          <a:xfrm>
            <a:off x="10668000" y="47815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已增加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3844879-4F5C-4311-A624-9A0504DE3552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768F5DC-3DBB-4F52-A55C-61D6BEA35CBE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D5EB6AB-2659-475B-9B08-FE0406D1B7A5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9DDA93-0029-454E-BB32-666C700D6A0B}"/>
              </a:ext>
            </a:extLst>
          </p:cNvPr>
          <p:cNvSpPr>
            <a:spLocks noGrp="1"/>
          </p:cNvSpPr>
          <p:nvPr/>
        </p:nvSpPr>
        <p:spPr>
          <a:xfrm>
            <a:off x="1104900" y="54102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端子/线束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D75214-3934-43F9-BDD4-0A50AB0B3860}"/>
              </a:ext>
            </a:extLst>
          </p:cNvPr>
          <p:cNvSpPr>
            <a:spLocks noGrp="1"/>
          </p:cNvSpPr>
          <p:nvPr/>
        </p:nvSpPr>
        <p:spPr>
          <a:xfrm>
            <a:off x="4305300" y="54006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29V/18A端子、电缆、螺丝压接、保险与接触温升需单独核算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B7C6136-E77F-4D8E-B226-612E8177859F}"/>
              </a:ext>
            </a:extLst>
          </p:cNvPr>
          <p:cNvSpPr>
            <a:spLocks noGrp="1"/>
          </p:cNvSpPr>
          <p:nvPr/>
        </p:nvSpPr>
        <p:spPr>
          <a:xfrm>
            <a:off x="10572750" y="54768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28C1632-C9A7-4F72-B90F-84CD0C83184C}"/>
              </a:ext>
            </a:extLst>
          </p:cNvPr>
          <p:cNvSpPr>
            <a:spLocks noGrp="1"/>
          </p:cNvSpPr>
          <p:nvPr/>
        </p:nvSpPr>
        <p:spPr>
          <a:xfrm>
            <a:off x="10668000" y="55245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必验证</a:t>
            </a:r>
          </a:p>
        </p:txBody>
      </p:sp>
    </p:spTree>
    <p:extLst>
      <p:ext uri="{BB962C8B-B14F-4D97-AF65-F5344CB8AC3E}">
        <p14:creationId xmlns:p14="http://schemas.microsoft.com/office/powerpoint/2010/main" val="1587733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E8D8548E-3985-491E-9033-E387A5F76CC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D3F87C-60D3-48D2-BEE0-DBDA48D462D5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当前结论分层：哪些基本成立，哪些必须由老师/样机闭环</a:t>
            </a: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A7F7599-76BA-4416-A693-46749CCAE8E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005B70-0792-4629-978C-78F5C1EB6648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226695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58C39D-2258-4B88-AAD2-9713F80710B0}"/>
              </a:ext>
            </a:extLst>
          </p:cNvPr>
          <p:cNvSpPr>
            <a:spLocks noGrp="1"/>
          </p:cNvSpPr>
          <p:nvPr/>
        </p:nvSpPr>
        <p:spPr>
          <a:xfrm>
            <a:off x="514350" y="16478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F71FEF-F150-4990-B397-F2D671C75314}"/>
              </a:ext>
            </a:extLst>
          </p:cNvPr>
          <p:cNvSpPr>
            <a:spLocks noGrp="1"/>
          </p:cNvSpPr>
          <p:nvPr/>
        </p:nvSpPr>
        <p:spPr>
          <a:xfrm>
            <a:off x="2667000" y="1524000"/>
            <a:ext cx="295275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CBBD72-9C58-4CC2-B226-AF463C576678}"/>
              </a:ext>
            </a:extLst>
          </p:cNvPr>
          <p:cNvSpPr>
            <a:spLocks noGrp="1"/>
          </p:cNvSpPr>
          <p:nvPr/>
        </p:nvSpPr>
        <p:spPr>
          <a:xfrm>
            <a:off x="2781300" y="1647825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本板条件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F0CDB08-E81E-4933-B1C3-FC2CDB4AC53F}"/>
              </a:ext>
            </a:extLst>
          </p:cNvPr>
          <p:cNvSpPr>
            <a:spLocks noGrp="1"/>
          </p:cNvSpPr>
          <p:nvPr/>
        </p:nvSpPr>
        <p:spPr>
          <a:xfrm>
            <a:off x="5619750" y="1524000"/>
            <a:ext cx="323850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FBDDFC-0DED-4D65-8DEE-C59EE0533355}"/>
              </a:ext>
            </a:extLst>
          </p:cNvPr>
          <p:cNvSpPr>
            <a:spLocks noGrp="1"/>
          </p:cNvSpPr>
          <p:nvPr/>
        </p:nvSpPr>
        <p:spPr>
          <a:xfrm>
            <a:off x="5734050" y="1647825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 / 数据手册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162EFEF-DF4D-4FC0-8C3D-91ED20CC0EA7}"/>
              </a:ext>
            </a:extLst>
          </p:cNvPr>
          <p:cNvSpPr>
            <a:spLocks noGrp="1"/>
          </p:cNvSpPr>
          <p:nvPr/>
        </p:nvSpPr>
        <p:spPr>
          <a:xfrm>
            <a:off x="8858250" y="1524000"/>
            <a:ext cx="2933700" cy="4572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600898-F2F3-405E-9268-66C68533B0DF}"/>
              </a:ext>
            </a:extLst>
          </p:cNvPr>
          <p:cNvSpPr>
            <a:spLocks noGrp="1"/>
          </p:cNvSpPr>
          <p:nvPr/>
        </p:nvSpPr>
        <p:spPr>
          <a:xfrm>
            <a:off x="8972550" y="1647825"/>
            <a:ext cx="2705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F084F7-4FAE-4FAE-AD89-67386A488B9B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AE1C2A-50D6-4634-B229-68E8476B911F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拓扑/目标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ECE1BED-E285-4711-91A7-B4BA08D54B7C}"/>
              </a:ext>
            </a:extLst>
          </p:cNvPr>
          <p:cNvSpPr>
            <a:spLocks noGrp="1"/>
          </p:cNvSpPr>
          <p:nvPr/>
        </p:nvSpPr>
        <p:spPr>
          <a:xfrm>
            <a:off x="2667000" y="19812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0E49F9-BAF2-4B64-8A77-DAC690FA8AD3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36V→29V/18A同步Buck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35D64B3-5520-4DD3-B42E-127D11B52633}"/>
              </a:ext>
            </a:extLst>
          </p:cNvPr>
          <p:cNvSpPr>
            <a:spLocks noGrp="1"/>
          </p:cNvSpPr>
          <p:nvPr/>
        </p:nvSpPr>
        <p:spPr>
          <a:xfrm>
            <a:off x="5619750" y="19812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C94081-0BA3-484F-A024-7B6D81128A91}"/>
              </a:ext>
            </a:extLst>
          </p:cNvPr>
          <p:cNvSpPr>
            <a:spLocks noGrp="1"/>
          </p:cNvSpPr>
          <p:nvPr/>
        </p:nvSpPr>
        <p:spPr>
          <a:xfrm>
            <a:off x="5734050" y="20955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功能逻辑成立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DCA55B-27E8-4630-8220-9F2AAF699687}"/>
              </a:ext>
            </a:extLst>
          </p:cNvPr>
          <p:cNvSpPr>
            <a:spLocks noGrp="1"/>
          </p:cNvSpPr>
          <p:nvPr/>
        </p:nvSpPr>
        <p:spPr>
          <a:xfrm>
            <a:off x="8858250" y="19812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0C6228-49FA-41C2-8B0B-3397455E6390}"/>
              </a:ext>
            </a:extLst>
          </p:cNvPr>
          <p:cNvSpPr>
            <a:spLocks noGrp="1"/>
          </p:cNvSpPr>
          <p:nvPr/>
        </p:nvSpPr>
        <p:spPr>
          <a:xfrm>
            <a:off x="8972550" y="20955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可进入详细审查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F69FBD6-2920-4F4C-843C-28C89FE519E2}"/>
              </a:ext>
            </a:extLst>
          </p:cNvPr>
          <p:cNvSpPr>
            <a:spLocks noGrp="1"/>
          </p:cNvSpPr>
          <p:nvPr/>
        </p:nvSpPr>
        <p:spPr>
          <a:xfrm>
            <a:off x="400050" y="26289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BBDC4-419A-4951-8384-E2E62294517D}"/>
              </a:ext>
            </a:extLst>
          </p:cNvPr>
          <p:cNvSpPr>
            <a:spLocks noGrp="1"/>
          </p:cNvSpPr>
          <p:nvPr/>
        </p:nvSpPr>
        <p:spPr>
          <a:xfrm>
            <a:off x="514350" y="2743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电压设定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4B2032-6F06-4442-A29C-01CF8B545BE6}"/>
              </a:ext>
            </a:extLst>
          </p:cNvPr>
          <p:cNvSpPr>
            <a:spLocks noGrp="1"/>
          </p:cNvSpPr>
          <p:nvPr/>
        </p:nvSpPr>
        <p:spPr>
          <a:xfrm>
            <a:off x="2667000" y="26289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189706-8D0C-41BE-8801-EEC2BDA86702}"/>
              </a:ext>
            </a:extLst>
          </p:cNvPr>
          <p:cNvSpPr>
            <a:spLocks noGrp="1"/>
          </p:cNvSpPr>
          <p:nvPr/>
        </p:nvSpPr>
        <p:spPr>
          <a:xfrm>
            <a:off x="2781300" y="27432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232k/10k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FC6D78F-EE3C-4611-8733-D3FC4CAC559E}"/>
              </a:ext>
            </a:extLst>
          </p:cNvPr>
          <p:cNvSpPr>
            <a:spLocks noGrp="1"/>
          </p:cNvSpPr>
          <p:nvPr/>
        </p:nvSpPr>
        <p:spPr>
          <a:xfrm>
            <a:off x="5619750" y="26289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533E53-6145-4148-B11C-22FCA488EAC3}"/>
              </a:ext>
            </a:extLst>
          </p:cNvPr>
          <p:cNvSpPr>
            <a:spLocks noGrp="1"/>
          </p:cNvSpPr>
          <p:nvPr/>
        </p:nvSpPr>
        <p:spPr>
          <a:xfrm>
            <a:off x="5734050" y="27432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29.19V；正常目标≤30V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337437C-1801-4137-8848-B8D35308244C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D461DB-0F32-42C8-A76E-39CF565725A0}"/>
              </a:ext>
            </a:extLst>
          </p:cNvPr>
          <p:cNvSpPr>
            <a:spLocks noGrp="1"/>
          </p:cNvSpPr>
          <p:nvPr/>
        </p:nvSpPr>
        <p:spPr>
          <a:xfrm>
            <a:off x="8972550" y="27432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可保留，测过冲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9DDA3F3-C428-4908-A26D-B869E58B27B6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A55404-544C-4C78-82BA-CA95EF539F41}"/>
              </a:ext>
            </a:extLst>
          </p:cNvPr>
          <p:cNvSpPr>
            <a:spLocks noGrp="1"/>
          </p:cNvSpPr>
          <p:nvPr/>
        </p:nvSpPr>
        <p:spPr>
          <a:xfrm>
            <a:off x="514350" y="3390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输入滤波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E05CCA5-7D3E-44C2-95CE-7A44BD50E5C2}"/>
              </a:ext>
            </a:extLst>
          </p:cNvPr>
          <p:cNvSpPr>
            <a:spLocks noGrp="1"/>
          </p:cNvSpPr>
          <p:nvPr/>
        </p:nvSpPr>
        <p:spPr>
          <a:xfrm>
            <a:off x="2667000" y="32766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7AEC09-1529-4F33-B99C-D12F43FE443A}"/>
              </a:ext>
            </a:extLst>
          </p:cNvPr>
          <p:cNvSpPr>
            <a:spLocks noGrp="1"/>
          </p:cNvSpPr>
          <p:nvPr/>
        </p:nvSpPr>
        <p:spPr>
          <a:xfrm>
            <a:off x="2781300" y="33909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1k/1k +1µF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34DC5A0-488A-4051-B817-F2123780ED53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75B860-926F-4539-BF76-C9D3BC45FED2}"/>
              </a:ext>
            </a:extLst>
          </p:cNvPr>
          <p:cNvSpPr>
            <a:spLocks noGrp="1"/>
          </p:cNvSpPr>
          <p:nvPr/>
        </p:nvSpPr>
        <p:spPr>
          <a:xfrm>
            <a:off x="5734050" y="33909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符合平均输入采样用途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A5106B5-2A0A-4B38-A4D7-E51035AF7D41}"/>
              </a:ext>
            </a:extLst>
          </p:cNvPr>
          <p:cNvSpPr>
            <a:spLocks noGrp="1"/>
          </p:cNvSpPr>
          <p:nvPr/>
        </p:nvSpPr>
        <p:spPr>
          <a:xfrm>
            <a:off x="8858250" y="32766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00CB95-38DD-4A32-AE50-73E231F6922D}"/>
              </a:ext>
            </a:extLst>
          </p:cNvPr>
          <p:cNvSpPr>
            <a:spLocks noGrp="1"/>
          </p:cNvSpPr>
          <p:nvPr/>
        </p:nvSpPr>
        <p:spPr>
          <a:xfrm>
            <a:off x="8972550" y="33909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不是“2ms必炸”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7157FB-6306-49B6-A6DA-8F35DD710B38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911ACD-D7CF-4955-8A0C-ECD5EFC58C3F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UVLO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C8BD03A-9C72-4161-9D21-2E5D4701D713}"/>
              </a:ext>
            </a:extLst>
          </p:cNvPr>
          <p:cNvSpPr>
            <a:spLocks noGrp="1"/>
          </p:cNvSpPr>
          <p:nvPr/>
        </p:nvSpPr>
        <p:spPr>
          <a:xfrm>
            <a:off x="2667000" y="39243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FCF7BDB-4346-4F9F-9A47-FF440483AF48}"/>
              </a:ext>
            </a:extLst>
          </p:cNvPr>
          <p:cNvSpPr>
            <a:spLocks noGrp="1"/>
          </p:cNvSpPr>
          <p:nvPr/>
        </p:nvSpPr>
        <p:spPr>
          <a:xfrm>
            <a:off x="2781300" y="40386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120k/6.34k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33AEF0-54D8-45AD-A21A-92D712F8F132}"/>
              </a:ext>
            </a:extLst>
          </p:cNvPr>
          <p:cNvSpPr>
            <a:spLocks noGrp="1"/>
          </p:cNvSpPr>
          <p:nvPr/>
        </p:nvSpPr>
        <p:spPr>
          <a:xfrm>
            <a:off x="5619750" y="39243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6190386-DC1F-4AC8-ABFE-287F38D02626}"/>
              </a:ext>
            </a:extLst>
          </p:cNvPr>
          <p:cNvSpPr>
            <a:spLocks noGrp="1"/>
          </p:cNvSpPr>
          <p:nvPr/>
        </p:nvSpPr>
        <p:spPr>
          <a:xfrm>
            <a:off x="5734050" y="40386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34.0V启/30.3V停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89B1EF4-AC81-4668-9618-D247F1924DE3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CD4D6C5-DF43-475F-903C-043BC32356E0}"/>
              </a:ext>
            </a:extLst>
          </p:cNvPr>
          <p:cNvSpPr>
            <a:spLocks noGrp="1"/>
          </p:cNvSpPr>
          <p:nvPr/>
        </p:nvSpPr>
        <p:spPr>
          <a:xfrm>
            <a:off x="8972550" y="40386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可保留，需实测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38F2646-316A-42D6-998B-9CE1E84CC928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6C17F80-4606-47DF-9F90-D667B7ED3AA6}"/>
              </a:ext>
            </a:extLst>
          </p:cNvPr>
          <p:cNvSpPr>
            <a:spLocks noGrp="1"/>
          </p:cNvSpPr>
          <p:nvPr/>
        </p:nvSpPr>
        <p:spPr>
          <a:xfrm>
            <a:off x="514350" y="46863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主功率PCB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2121BAA-39D2-4F11-A444-61EBA86FC2B1}"/>
              </a:ext>
            </a:extLst>
          </p:cNvPr>
          <p:cNvSpPr>
            <a:spLocks noGrp="1"/>
          </p:cNvSpPr>
          <p:nvPr/>
        </p:nvSpPr>
        <p:spPr>
          <a:xfrm>
            <a:off x="2667000" y="45720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35222F-3A7B-44DD-9C2C-1D67B2D0BB51}"/>
              </a:ext>
            </a:extLst>
          </p:cNvPr>
          <p:cNvSpPr>
            <a:spLocks noGrp="1"/>
          </p:cNvSpPr>
          <p:nvPr/>
        </p:nvSpPr>
        <p:spPr>
          <a:xfrm>
            <a:off x="2781300" y="46863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直连、多层铜、过孔阵列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4606FC7-5016-416E-8CC8-940FDCD00AC7}"/>
              </a:ext>
            </a:extLst>
          </p:cNvPr>
          <p:cNvSpPr>
            <a:spLocks noGrp="1"/>
          </p:cNvSpPr>
          <p:nvPr/>
        </p:nvSpPr>
        <p:spPr>
          <a:xfrm>
            <a:off x="5619750" y="45720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BE66BCB-1182-4EFE-94BC-E63C63B7F584}"/>
              </a:ext>
            </a:extLst>
          </p:cNvPr>
          <p:cNvSpPr>
            <a:spLocks noGrp="1"/>
          </p:cNvSpPr>
          <p:nvPr/>
        </p:nvSpPr>
        <p:spPr>
          <a:xfrm>
            <a:off x="5734050" y="46863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方向正确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3C13B52-8434-4EAA-B2E3-AE46817D7DA3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F15CAD-E82F-4B8B-8799-F958A273065B}"/>
              </a:ext>
            </a:extLst>
          </p:cNvPr>
          <p:cNvSpPr>
            <a:spLocks noGrp="1"/>
          </p:cNvSpPr>
          <p:nvPr/>
        </p:nvSpPr>
        <p:spPr>
          <a:xfrm>
            <a:off x="8972550" y="46863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仍需老师逐回路审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FCE0E7E-ECB4-4597-A47E-E60922D718D1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22669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39E671B-98AC-41E9-8EFB-DC195E9411E4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输入瞬态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36026A5-93F6-4732-B9F6-B71176B6EB2C}"/>
              </a:ext>
            </a:extLst>
          </p:cNvPr>
          <p:cNvSpPr>
            <a:spLocks noGrp="1"/>
          </p:cNvSpPr>
          <p:nvPr/>
        </p:nvSpPr>
        <p:spPr>
          <a:xfrm>
            <a:off x="2667000" y="5219700"/>
            <a:ext cx="295275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7EB52A-A780-4948-A6C0-2CD388056AC4}"/>
              </a:ext>
            </a:extLst>
          </p:cNvPr>
          <p:cNvSpPr>
            <a:spLocks noGrp="1"/>
          </p:cNvSpPr>
          <p:nvPr/>
        </p:nvSpPr>
        <p:spPr>
          <a:xfrm>
            <a:off x="2781300" y="53340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D6/U7/Q3/Q12/RC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CF2283D-EDAD-4922-B6FC-C6FAF8FC7F3F}"/>
              </a:ext>
            </a:extLst>
          </p:cNvPr>
          <p:cNvSpPr>
            <a:spLocks noGrp="1"/>
          </p:cNvSpPr>
          <p:nvPr/>
        </p:nvSpPr>
        <p:spPr>
          <a:xfrm>
            <a:off x="5619750" y="5219700"/>
            <a:ext cx="32385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E7CA26C-76C5-498F-8211-1DEF3199CFEE}"/>
              </a:ext>
            </a:extLst>
          </p:cNvPr>
          <p:cNvSpPr>
            <a:spLocks noGrp="1"/>
          </p:cNvSpPr>
          <p:nvPr/>
        </p:nvSpPr>
        <p:spPr>
          <a:xfrm>
            <a:off x="5734050" y="5334000"/>
            <a:ext cx="300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动态协调未证明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6C88CDA8-59C6-4A4B-A830-92D54521E41E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933700" cy="6477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F0A3E52-77C4-4939-B1EC-A872786917D8}"/>
              </a:ext>
            </a:extLst>
          </p:cNvPr>
          <p:cNvSpPr>
            <a:spLocks noGrp="1"/>
          </p:cNvSpPr>
          <p:nvPr/>
        </p:nvSpPr>
        <p:spPr>
          <a:xfrm>
            <a:off x="8972550" y="533400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最高优先级验证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FEF2437-4202-45C9-B729-1B5788F54F4B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这页不是最终合格结论；它用于把讨论聚焦到“尚未被证明”的项目，避免重复纠结已经修正的旧问题。</a:t>
            </a:r>
          </a:p>
        </p:txBody>
      </p:sp>
    </p:spTree>
    <p:extLst>
      <p:ext uri="{BB962C8B-B14F-4D97-AF65-F5344CB8AC3E}">
        <p14:creationId xmlns:p14="http://schemas.microsoft.com/office/powerpoint/2010/main" val="10308606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9DA8B903-7FD1-49D2-B622-C708C11236E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1C9CF7-1444-44A0-B872-B4DF5A285026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希望老师优先回答的8个具体问题</a:t>
            </a: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4A3481E-3DA6-4127-9A85-8A545D227E39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CD8629-A36D-4B58-B8CD-F86B54DFDD38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C51753-63CB-4922-ABD9-09BD5D1CCF03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79225F-81B5-4BEC-8869-6AFCD203452F}"/>
              </a:ext>
            </a:extLst>
          </p:cNvPr>
          <p:cNvSpPr>
            <a:spLocks noGrp="1"/>
          </p:cNvSpPr>
          <p:nvPr/>
        </p:nvSpPr>
        <p:spPr>
          <a:xfrm>
            <a:off x="1143000" y="1600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主开关环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BDA215-A6F6-4C56-9F7B-2CE197B6FD9A}"/>
              </a:ext>
            </a:extLst>
          </p:cNvPr>
          <p:cNvSpPr>
            <a:spLocks noGrp="1"/>
          </p:cNvSpPr>
          <p:nvPr/>
        </p:nvSpPr>
        <p:spPr>
          <a:xfrm>
            <a:off x="1143000" y="19240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本地MLCC—Q2/Q5—Q1/Q6—GND闭环是否足够小？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05C59C-FC2E-494F-ACAF-294DF190FF14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43C29E-8A10-4CAF-A1B0-D601E4043A4D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E0EA26-6FAD-44D4-AF9D-827671820068}"/>
              </a:ext>
            </a:extLst>
          </p:cNvPr>
          <p:cNvSpPr>
            <a:spLocks noGrp="1"/>
          </p:cNvSpPr>
          <p:nvPr/>
        </p:nvSpPr>
        <p:spPr>
          <a:xfrm>
            <a:off x="6934200" y="1600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多层大电流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AF7F33-91B1-4F04-A1B5-AF88A2C140BE}"/>
              </a:ext>
            </a:extLst>
          </p:cNvPr>
          <p:cNvSpPr>
            <a:spLocks noGrp="1"/>
          </p:cNvSpPr>
          <p:nvPr/>
        </p:nvSpPr>
        <p:spPr>
          <a:xfrm>
            <a:off x="6934200" y="19240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$1N947、GND、VCC_OUT分别应该走几层、在哪里换层？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1C42552-2007-44CE-B748-3490757C7266}"/>
              </a:ext>
            </a:extLst>
          </p:cNvPr>
          <p:cNvSpPr>
            <a:spLocks noGrp="1"/>
          </p:cNvSpPr>
          <p:nvPr/>
        </p:nvSpPr>
        <p:spPr>
          <a:xfrm>
            <a:off x="400050" y="26479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D10FEF-BF6F-4548-B1D9-1BC42CD50116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AB3AD4-0DAC-4798-862C-F1CAF909DFC3}"/>
              </a:ext>
            </a:extLst>
          </p:cNvPr>
          <p:cNvSpPr>
            <a:spLocks noGrp="1"/>
          </p:cNvSpPr>
          <p:nvPr/>
        </p:nvSpPr>
        <p:spPr>
          <a:xfrm>
            <a:off x="1143000" y="2781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并联MOS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2268C8-9DEE-4837-B9E8-FE8BE06CF486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TG/BG分叉、公共源电感与单独栅电阻是否合理？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4FF8D81-8553-4C40-83F8-184E57529FAC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3DD7A0-0E46-4B47-B036-5F3D857346F3}"/>
              </a:ext>
            </a:extLst>
          </p:cNvPr>
          <p:cNvSpPr>
            <a:spLocks noGrp="1"/>
          </p:cNvSpPr>
          <p:nvPr/>
        </p:nvSpPr>
        <p:spPr>
          <a:xfrm>
            <a:off x="6362700" y="28003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D1341E-09A2-49E8-B2D0-EA56B71A335A}"/>
              </a:ext>
            </a:extLst>
          </p:cNvPr>
          <p:cNvSpPr>
            <a:spLocks noGrp="1"/>
          </p:cNvSpPr>
          <p:nvPr/>
        </p:nvSpPr>
        <p:spPr>
          <a:xfrm>
            <a:off x="6934200" y="2781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Kelvin采样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3556F0-2650-41DE-A7DE-FB369373BA73}"/>
              </a:ext>
            </a:extLst>
          </p:cNvPr>
          <p:cNvSpPr>
            <a:spLocks noGrp="1"/>
          </p:cNvSpPr>
          <p:nvPr/>
        </p:nvSpPr>
        <p:spPr>
          <a:xfrm>
            <a:off x="6934200" y="31051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R1/R12取样点与滤波位置是否会被SW和地弹污染？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919B717-8AE4-40D1-A076-E03C67FDA78B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1E71F5-0138-4E88-BA0C-D778DFAB89B7}"/>
              </a:ext>
            </a:extLst>
          </p:cNvPr>
          <p:cNvSpPr>
            <a:spLocks noGrp="1"/>
          </p:cNvSpPr>
          <p:nvPr/>
        </p:nvSpPr>
        <p:spPr>
          <a:xfrm>
            <a:off x="571500" y="3981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4E6290-2A58-43CF-AA1A-4662155FA75D}"/>
              </a:ext>
            </a:extLst>
          </p:cNvPr>
          <p:cNvSpPr>
            <a:spLocks noGrp="1"/>
          </p:cNvSpPr>
          <p:nvPr/>
        </p:nvSpPr>
        <p:spPr>
          <a:xfrm>
            <a:off x="1143000" y="3962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输入瞬态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B0FCDC-B885-4F12-985D-AB08D57922A2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SMCJ36CA、43V关断和80V P-MOS的动态协调能否接受？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9155DE-FA0D-4E92-9B39-8FE9B5B76535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370AA2-1567-4B44-A37E-9A960E88468D}"/>
              </a:ext>
            </a:extLst>
          </p:cNvPr>
          <p:cNvSpPr>
            <a:spLocks noGrp="1"/>
          </p:cNvSpPr>
          <p:nvPr/>
        </p:nvSpPr>
        <p:spPr>
          <a:xfrm>
            <a:off x="6362700" y="39814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D067DF-D813-47FD-9E6C-D620C46552C5}"/>
              </a:ext>
            </a:extLst>
          </p:cNvPr>
          <p:cNvSpPr>
            <a:spLocks noGrp="1"/>
          </p:cNvSpPr>
          <p:nvPr/>
        </p:nvSpPr>
        <p:spPr>
          <a:xfrm>
            <a:off x="6934200" y="3962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热插拔SOA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891AA6-447E-4144-817D-98A41DB5AC4D}"/>
              </a:ext>
            </a:extLst>
          </p:cNvPr>
          <p:cNvSpPr>
            <a:spLocks noGrp="1"/>
          </p:cNvSpPr>
          <p:nvPr/>
        </p:nvSpPr>
        <p:spPr>
          <a:xfrm>
            <a:off x="6934200" y="4286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Q3/Q12在最坏接入过程中VDS×ID×时间是否越过SOA？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4E9030A-C52E-434F-9ED3-23C9E687793C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141C52-F065-4179-9687-F47DCA68128F}"/>
              </a:ext>
            </a:extLst>
          </p:cNvPr>
          <p:cNvSpPr>
            <a:spLocks noGrp="1"/>
          </p:cNvSpPr>
          <p:nvPr/>
        </p:nvSpPr>
        <p:spPr>
          <a:xfrm>
            <a:off x="571500" y="51625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C916E4-B98E-4811-A7A8-8BAD68D0B4D0}"/>
              </a:ext>
            </a:extLst>
          </p:cNvPr>
          <p:cNvSpPr>
            <a:spLocks noGrp="1"/>
          </p:cNvSpPr>
          <p:nvPr/>
        </p:nvSpPr>
        <p:spPr>
          <a:xfrm>
            <a:off x="1143000" y="5143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控制参数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FB2F91-40AD-4461-9D89-9BD97FB6311C}"/>
              </a:ext>
            </a:extLst>
          </p:cNvPr>
          <p:cNvSpPr>
            <a:spLocks noGrp="1"/>
          </p:cNvSpPr>
          <p:nvPr/>
        </p:nvSpPr>
        <p:spPr>
          <a:xfrm>
            <a:off x="1143000" y="54673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CTRL2降额、VC补偿和LM5164 C25的首板值是否合理？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44A1EE8-CF7D-4D27-90AF-5284678EFD58}"/>
              </a:ext>
            </a:extLst>
          </p:cNvPr>
          <p:cNvSpPr>
            <a:spLocks noGrp="1"/>
          </p:cNvSpPr>
          <p:nvPr/>
        </p:nvSpPr>
        <p:spPr>
          <a:xfrm>
            <a:off x="6191250" y="5010150"/>
            <a:ext cx="56007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917487-D8A6-482A-9BC2-714B4BD1515C}"/>
              </a:ext>
            </a:extLst>
          </p:cNvPr>
          <p:cNvSpPr>
            <a:spLocks noGrp="1"/>
          </p:cNvSpPr>
          <p:nvPr/>
        </p:nvSpPr>
        <p:spPr>
          <a:xfrm>
            <a:off x="6362700" y="51625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68275A-8AFD-4FE4-BEFE-4CBD3A9464BD}"/>
              </a:ext>
            </a:extLst>
          </p:cNvPr>
          <p:cNvSpPr>
            <a:spLocks noGrp="1"/>
          </p:cNvSpPr>
          <p:nvPr/>
        </p:nvSpPr>
        <p:spPr>
          <a:xfrm>
            <a:off x="6934200" y="5143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702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测试门槛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CD01240-8F60-44CB-BD8E-26D35AC98FEF}"/>
              </a:ext>
            </a:extLst>
          </p:cNvPr>
          <p:cNvSpPr>
            <a:spLocks noGrp="1"/>
          </p:cNvSpPr>
          <p:nvPr/>
        </p:nvSpPr>
        <p:spPr>
          <a:xfrm>
            <a:off x="6934200" y="54673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上到18A前必须看到哪些波形/温度/保护动作才允许继续？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B47E85-2F1F-4A0F-95A7-4A740B877EEB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11391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/>
          </a:bodyPr>
          <a:lstStyle/>
          <a:p>
            <a:pPr algn="ctr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请把回答记录为：结论 / 依据 / 修改位号与数值 / 验证工况 / 通过标准。</a:t>
            </a:r>
          </a:p>
        </p:txBody>
      </p:sp>
    </p:spTree>
    <p:extLst>
      <p:ext uri="{BB962C8B-B14F-4D97-AF65-F5344CB8AC3E}">
        <p14:creationId xmlns:p14="http://schemas.microsoft.com/office/powerpoint/2010/main" val="92190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50B6BCC-9CE2-44E8-9792-D9DFD025E52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8B5F79-75B6-4E0D-AF59-4B72873A5CA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首次上电：先证明控制和驱动正常，再逐步给功率</a:t>
            </a: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B47786A-E845-4CF8-AF67-64015B6A3D9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1295400" y="3352800"/>
            <a:ext cx="9601200" cy="0"/>
          </a:xfrm>
          <a:prstGeom prst="straightConnector1">
            <a:avLst/>
          </a:prstGeom>
          <a:ln w="28575">
            <a:solidFill>
              <a:srgbClr val="D9DEE5"/>
            </a:solidFill>
            <a:prstDash val="solid"/>
          </a:ln>
        </p:spPr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A3329E3-E857-4E1A-BDD3-907E0B1BF2A2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F95419-D8CC-4FCD-A966-C2C3DFFB4E5B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 w="9525">
            <a:solidFill>
              <a:srgbClr val="2F8F6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0AD224-5BF1-4B13-81E7-24B94CAD564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715802-7981-4834-A678-DD724EE6615A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离线检查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2DDA5D-979A-4AFB-90B2-F0D572AB4459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阻值/极性/短路；核对DNP与MOS方向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456B47-2732-49AE-BE92-6CE69E1FD1F9}"/>
              </a:ext>
            </a:extLst>
          </p:cNvPr>
          <p:cNvSpPr>
            <a:spLocks noGrp="1"/>
          </p:cNvSpPr>
          <p:nvPr/>
        </p:nvSpPr>
        <p:spPr>
          <a:xfrm>
            <a:off x="32956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4FB65C-13E1-4E4C-8F98-7E6CA9B093AF}"/>
              </a:ext>
            </a:extLst>
          </p:cNvPr>
          <p:cNvSpPr>
            <a:spLocks noGrp="1"/>
          </p:cNvSpPr>
          <p:nvPr/>
        </p:nvSpPr>
        <p:spPr>
          <a:xfrm>
            <a:off x="34290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 w="9525">
            <a:solidFill>
              <a:srgbClr val="2F8F6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96C810-CF15-4D8E-A7C5-2EE344B28E2F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A8C632-6D8C-4DC8-94FC-23F1D0F0792F}"/>
              </a:ext>
            </a:extLst>
          </p:cNvPr>
          <p:cNvSpPr>
            <a:spLocks noGrp="1"/>
          </p:cNvSpPr>
          <p:nvPr/>
        </p:nvSpPr>
        <p:spPr>
          <a:xfrm>
            <a:off x="38862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限流输入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8C557D-AB4C-4180-BAB3-CF02A4F43837}"/>
              </a:ext>
            </a:extLst>
          </p:cNvPr>
          <p:cNvSpPr>
            <a:spLocks noGrp="1"/>
          </p:cNvSpPr>
          <p:nvPr/>
        </p:nvSpPr>
        <p:spPr>
          <a:xfrm>
            <a:off x="34671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保险+限流电源；远程使能；先不接大负载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6253B1-9112-4EE3-B0A5-FDDE6A6A368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45E74FA-F8CD-46A1-9AAD-517D832021A2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3628D7-194B-49BA-A11D-ABBBCC99C0B8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C3B59F-4B20-4CE7-B05A-951261C6443F}"/>
              </a:ext>
            </a:extLst>
          </p:cNvPr>
          <p:cNvSpPr>
            <a:spLocks noGrp="1"/>
          </p:cNvSpPr>
          <p:nvPr/>
        </p:nvSpPr>
        <p:spPr>
          <a:xfrm>
            <a:off x="67818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辅助电源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3334AA-4D4F-424E-BEBE-AA842560781F}"/>
              </a:ext>
            </a:extLst>
          </p:cNvPr>
          <p:cNvSpPr>
            <a:spLocks noGrp="1"/>
          </p:cNvSpPr>
          <p:nvPr/>
        </p:nvSpPr>
        <p:spPr>
          <a:xfrm>
            <a:off x="63627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12V、5V、3.3V、AVCC和U1 INTVCC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79164DB-2610-4117-B5B5-9138347A97EE}"/>
              </a:ext>
            </a:extLst>
          </p:cNvPr>
          <p:cNvSpPr>
            <a:spLocks noGrp="1"/>
          </p:cNvSpPr>
          <p:nvPr/>
        </p:nvSpPr>
        <p:spPr>
          <a:xfrm>
            <a:off x="90868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191F56-D173-4E2D-93B7-2E6269D8E7FA}"/>
              </a:ext>
            </a:extLst>
          </p:cNvPr>
          <p:cNvSpPr>
            <a:spLocks noGrp="1"/>
          </p:cNvSpPr>
          <p:nvPr/>
        </p:nvSpPr>
        <p:spPr>
          <a:xfrm>
            <a:off x="92202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549473-981B-4CB3-B61C-937E2963977E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337C60-424F-4464-B708-535F85F13E7C}"/>
              </a:ext>
            </a:extLst>
          </p:cNvPr>
          <p:cNvSpPr>
            <a:spLocks noGrp="1"/>
          </p:cNvSpPr>
          <p:nvPr/>
        </p:nvSpPr>
        <p:spPr>
          <a:xfrm>
            <a:off x="96774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UVLO窗口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BE221-2212-4538-8B26-E42717FF1D3A}"/>
              </a:ext>
            </a:extLst>
          </p:cNvPr>
          <p:cNvSpPr>
            <a:spLocks noGrp="1"/>
          </p:cNvSpPr>
          <p:nvPr/>
        </p:nvSpPr>
        <p:spPr>
          <a:xfrm>
            <a:off x="92583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慢升慢降记录约34.0V启/30.3V停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3DD6BBC-DD19-435E-9BFD-E5259CCCB1B5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FC4B5C-38D6-4734-B0B8-863F7F665E73}"/>
              </a:ext>
            </a:extLst>
          </p:cNvPr>
          <p:cNvSpPr>
            <a:spLocks noGrp="1"/>
          </p:cNvSpPr>
          <p:nvPr/>
        </p:nvSpPr>
        <p:spPr>
          <a:xfrm>
            <a:off x="5334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F1F02B-B2B6-4443-B056-0B9BB8018A90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70E919-B5DD-4854-8644-D27FC6BCD4D1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低流开关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7542CD-8639-42F6-A3DF-E8A444078FB8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1A看SW、TG/BG、死区、BOOST和尖峰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294E66A-263A-4843-B429-79E951AB6735}"/>
              </a:ext>
            </a:extLst>
          </p:cNvPr>
          <p:cNvSpPr>
            <a:spLocks noGrp="1"/>
          </p:cNvSpPr>
          <p:nvPr/>
        </p:nvSpPr>
        <p:spPr>
          <a:xfrm>
            <a:off x="32956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FB3B730-F808-4D7A-AC0C-BBA56044486A}"/>
              </a:ext>
            </a:extLst>
          </p:cNvPr>
          <p:cNvSpPr>
            <a:spLocks noGrp="1"/>
          </p:cNvSpPr>
          <p:nvPr/>
        </p:nvSpPr>
        <p:spPr>
          <a:xfrm>
            <a:off x="34290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4738FF-C88D-4BBE-B695-BAFBBA9DA3A7}"/>
              </a:ext>
            </a:extLst>
          </p:cNvPr>
          <p:cNvSpPr>
            <a:spLocks noGrp="1"/>
          </p:cNvSpPr>
          <p:nvPr/>
        </p:nvSpPr>
        <p:spPr>
          <a:xfrm>
            <a:off x="34290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09798D-8D08-4270-93E9-2C6FD35CA109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电流校准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A273B6-17E1-4556-B483-F7AB04C6208C}"/>
              </a:ext>
            </a:extLst>
          </p:cNvPr>
          <p:cNvSpPr>
            <a:spLocks noGrp="1"/>
          </p:cNvSpPr>
          <p:nvPr/>
        </p:nvSpPr>
        <p:spPr>
          <a:xfrm>
            <a:off x="34671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比较DAC、CTRL1、R1压降与ISMON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4B8EA2D-993E-4F8E-892F-154646E7DD64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441372A-EB64-48F3-A7FE-C70B7E04B9EE}"/>
              </a:ext>
            </a:extLst>
          </p:cNvPr>
          <p:cNvSpPr>
            <a:spLocks noGrp="1"/>
          </p:cNvSpPr>
          <p:nvPr/>
        </p:nvSpPr>
        <p:spPr>
          <a:xfrm>
            <a:off x="63246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ED2586-73E2-4089-B342-9231E54EC6C0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F14361-5B40-4357-9973-3AFA5AF67BDF}"/>
              </a:ext>
            </a:extLst>
          </p:cNvPr>
          <p:cNvSpPr>
            <a:spLocks noGrp="1"/>
          </p:cNvSpPr>
          <p:nvPr/>
        </p:nvSpPr>
        <p:spPr>
          <a:xfrm>
            <a:off x="67818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逐级加载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7B05B64-D809-4839-B4ED-79DDE0C50163}"/>
              </a:ext>
            </a:extLst>
          </p:cNvPr>
          <p:cNvSpPr>
            <a:spLocks noGrp="1"/>
          </p:cNvSpPr>
          <p:nvPr/>
        </p:nvSpPr>
        <p:spPr>
          <a:xfrm>
            <a:off x="63627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1A→5A→10A；每级停下看温升/纹波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C2E579C-CA64-4E1C-B43E-C66EF3DC9186}"/>
              </a:ext>
            </a:extLst>
          </p:cNvPr>
          <p:cNvSpPr>
            <a:spLocks noGrp="1"/>
          </p:cNvSpPr>
          <p:nvPr/>
        </p:nvSpPr>
        <p:spPr>
          <a:xfrm>
            <a:off x="90868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4B33D7B-7AEE-45D4-85EB-C39B323B2038}"/>
              </a:ext>
            </a:extLst>
          </p:cNvPr>
          <p:cNvSpPr>
            <a:spLocks noGrp="1"/>
          </p:cNvSpPr>
          <p:nvPr/>
        </p:nvSpPr>
        <p:spPr>
          <a:xfrm>
            <a:off x="92202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AAAF06C-ABF3-41C9-A008-415CAF2EBE23}"/>
              </a:ext>
            </a:extLst>
          </p:cNvPr>
          <p:cNvSpPr>
            <a:spLocks noGrp="1"/>
          </p:cNvSpPr>
          <p:nvPr/>
        </p:nvSpPr>
        <p:spPr>
          <a:xfrm>
            <a:off x="92202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92CA58-AA0C-4929-9C38-74CED9938A0B}"/>
              </a:ext>
            </a:extLst>
          </p:cNvPr>
          <p:cNvSpPr>
            <a:spLocks noGrp="1"/>
          </p:cNvSpPr>
          <p:nvPr/>
        </p:nvSpPr>
        <p:spPr>
          <a:xfrm>
            <a:off x="96774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允许继续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82EB886-6C67-4288-AE9D-A00D445887A4}"/>
              </a:ext>
            </a:extLst>
          </p:cNvPr>
          <p:cNvSpPr>
            <a:spLocks noGrp="1"/>
          </p:cNvSpPr>
          <p:nvPr/>
        </p:nvSpPr>
        <p:spPr>
          <a:xfrm>
            <a:off x="92583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所有异常先归零、掉电、记录再处理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5F29DC0-70B5-4ED2-9337-F3A2D6817335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约500W实验必须使用保险、限流、远程断电、绝缘探头/差分探头和短地弹簧；禁止带电手调。</a:t>
            </a:r>
          </a:p>
        </p:txBody>
      </p:sp>
    </p:spTree>
    <p:extLst>
      <p:ext uri="{BB962C8B-B14F-4D97-AF65-F5344CB8AC3E}">
        <p14:creationId xmlns:p14="http://schemas.microsoft.com/office/powerpoint/2010/main" val="366569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50B6BCC-9CE2-44E8-9792-D9DFD025E52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8B5F79-75B6-4E0D-AF59-4B72873A5CA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满载、动态、热与故障：样机必须给出“通过标准”，不能只说能工作</a:t>
            </a: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B47786A-E845-4CF8-AF67-64015B6A3D9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1295400" y="3352800"/>
            <a:ext cx="9601200" cy="0"/>
          </a:xfrm>
          <a:prstGeom prst="straightConnector1">
            <a:avLst/>
          </a:prstGeom>
          <a:ln w="28575">
            <a:solidFill>
              <a:srgbClr val="D9DEE5"/>
            </a:solidFill>
            <a:prstDash val="solid"/>
          </a:ln>
        </p:spPr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A3329E3-E857-4E1A-BDD3-907E0B1BF2A2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F95419-D8CC-4FCD-A966-C2C3DFFB4E5B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 w="9525">
            <a:solidFill>
              <a:srgbClr val="2F8F6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0AD224-5BF1-4B13-81E7-24B94CAD564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715802-7981-4834-A678-DD724EE6615A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15A预热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2DDA5D-979A-4AFB-90B2-F0D572AB4459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热像看MOS、电感、R1/R12、端子与过孔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456B47-2732-49AE-BE92-6CE69E1FD1F9}"/>
              </a:ext>
            </a:extLst>
          </p:cNvPr>
          <p:cNvSpPr>
            <a:spLocks noGrp="1"/>
          </p:cNvSpPr>
          <p:nvPr/>
        </p:nvSpPr>
        <p:spPr>
          <a:xfrm>
            <a:off x="32956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4FB65C-13E1-4E4C-8F98-7E6CA9B093AF}"/>
              </a:ext>
            </a:extLst>
          </p:cNvPr>
          <p:cNvSpPr>
            <a:spLocks noGrp="1"/>
          </p:cNvSpPr>
          <p:nvPr/>
        </p:nvSpPr>
        <p:spPr>
          <a:xfrm>
            <a:off x="34290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 w="9525">
            <a:solidFill>
              <a:srgbClr val="2F8F6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96C810-CF15-4D8E-A7C5-2EE344B28E2F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A8C632-6D8C-4DC8-94FC-23F1D0F0792F}"/>
              </a:ext>
            </a:extLst>
          </p:cNvPr>
          <p:cNvSpPr>
            <a:spLocks noGrp="1"/>
          </p:cNvSpPr>
          <p:nvPr/>
        </p:nvSpPr>
        <p:spPr>
          <a:xfrm>
            <a:off x="38862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18A热平衡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8C557D-AB4C-4180-BAB3-CF02A4F43837}"/>
              </a:ext>
            </a:extLst>
          </p:cNvPr>
          <p:cNvSpPr>
            <a:spLocks noGrp="1"/>
          </p:cNvSpPr>
          <p:nvPr/>
        </p:nvSpPr>
        <p:spPr>
          <a:xfrm>
            <a:off x="34671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记录环境温度、风速、壳温、效率与铜皮温升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6253B1-9112-4EE3-B0A5-FDDE6A6A368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45E74FA-F8CD-46A1-9AAD-517D832021A2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3628D7-194B-49BA-A11D-ABBBCC99C0B8}"/>
              </a:ext>
            </a:extLst>
          </p:cNvPr>
          <p:cNvSpPr>
            <a:spLocks noGrp="1"/>
          </p:cNvSpPr>
          <p:nvPr/>
        </p:nvSpPr>
        <p:spPr>
          <a:xfrm>
            <a:off x="63246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C3B59F-4B20-4CE7-B05A-951261C6443F}"/>
              </a:ext>
            </a:extLst>
          </p:cNvPr>
          <p:cNvSpPr>
            <a:spLocks noGrp="1"/>
          </p:cNvSpPr>
          <p:nvPr/>
        </p:nvSpPr>
        <p:spPr>
          <a:xfrm>
            <a:off x="67818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负载阶跃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3334AA-4D4F-424E-BEBE-AA842560781F}"/>
              </a:ext>
            </a:extLst>
          </p:cNvPr>
          <p:cNvSpPr>
            <a:spLocks noGrp="1"/>
          </p:cNvSpPr>
          <p:nvPr/>
        </p:nvSpPr>
        <p:spPr>
          <a:xfrm>
            <a:off x="63627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例如5↔15A；看VOUT过冲、恢复时间和VC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79164DB-2610-4117-B5B5-9138347A97EE}"/>
              </a:ext>
            </a:extLst>
          </p:cNvPr>
          <p:cNvSpPr>
            <a:spLocks noGrp="1"/>
          </p:cNvSpPr>
          <p:nvPr/>
        </p:nvSpPr>
        <p:spPr>
          <a:xfrm>
            <a:off x="9086850" y="1619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191F56-D173-4E2D-93B7-2E6269D8E7FA}"/>
              </a:ext>
            </a:extLst>
          </p:cNvPr>
          <p:cNvSpPr>
            <a:spLocks noGrp="1"/>
          </p:cNvSpPr>
          <p:nvPr/>
        </p:nvSpPr>
        <p:spPr>
          <a:xfrm>
            <a:off x="9220200" y="1752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549473-981B-4CB3-B61C-937E2963977E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337C60-424F-4464-B708-535F85F13E7C}"/>
              </a:ext>
            </a:extLst>
          </p:cNvPr>
          <p:cNvSpPr>
            <a:spLocks noGrp="1"/>
          </p:cNvSpPr>
          <p:nvPr/>
        </p:nvSpPr>
        <p:spPr>
          <a:xfrm>
            <a:off x="9677400" y="1752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输入阶跃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BE221-2212-4538-8B26-E42717FF1D3A}"/>
              </a:ext>
            </a:extLst>
          </p:cNvPr>
          <p:cNvSpPr>
            <a:spLocks noGrp="1"/>
          </p:cNvSpPr>
          <p:nvPr/>
        </p:nvSpPr>
        <p:spPr>
          <a:xfrm>
            <a:off x="9258300" y="2171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在允许范围内慢/快变化；看UVLO与输入限流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3DD6BBC-DD19-435E-9BFD-E5259CCCB1B5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FC4B5C-38D6-4734-B0B8-863F7F665E73}"/>
              </a:ext>
            </a:extLst>
          </p:cNvPr>
          <p:cNvSpPr>
            <a:spLocks noGrp="1"/>
          </p:cNvSpPr>
          <p:nvPr/>
        </p:nvSpPr>
        <p:spPr>
          <a:xfrm>
            <a:off x="5334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F1F02B-B2B6-4443-B056-0B9BB8018A90}"/>
              </a:ext>
            </a:extLst>
          </p:cNvPr>
          <p:cNvSpPr>
            <a:spLocks noGrp="1"/>
          </p:cNvSpPr>
          <p:nvPr/>
        </p:nvSpPr>
        <p:spPr>
          <a:xfrm>
            <a:off x="5334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70E919-B5DD-4854-8644-D27FC6BCD4D1}"/>
              </a:ext>
            </a:extLst>
          </p:cNvPr>
          <p:cNvSpPr>
            <a:spLocks noGrp="1"/>
          </p:cNvSpPr>
          <p:nvPr/>
        </p:nvSpPr>
        <p:spPr>
          <a:xfrm>
            <a:off x="9906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热插拔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7542CD-8639-42F6-A3DF-E8A444078FB8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限流条件测试Q3/Q12 VDS/ID与D6电压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294E66A-263A-4843-B429-79E951AB6735}"/>
              </a:ext>
            </a:extLst>
          </p:cNvPr>
          <p:cNvSpPr>
            <a:spLocks noGrp="1"/>
          </p:cNvSpPr>
          <p:nvPr/>
        </p:nvSpPr>
        <p:spPr>
          <a:xfrm>
            <a:off x="32956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FB3B730-F808-4D7A-AC0C-BBA56044486A}"/>
              </a:ext>
            </a:extLst>
          </p:cNvPr>
          <p:cNvSpPr>
            <a:spLocks noGrp="1"/>
          </p:cNvSpPr>
          <p:nvPr/>
        </p:nvSpPr>
        <p:spPr>
          <a:xfrm>
            <a:off x="34290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4738FF-C88D-4BBE-B695-BAFBBA9DA3A7}"/>
              </a:ext>
            </a:extLst>
          </p:cNvPr>
          <p:cNvSpPr>
            <a:spLocks noGrp="1"/>
          </p:cNvSpPr>
          <p:nvPr/>
        </p:nvSpPr>
        <p:spPr>
          <a:xfrm>
            <a:off x="34290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09798D-8D08-4270-93E9-2C6FD35CA109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开路/卸载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9A273B6-17E1-4556-B483-F7AB04C6208C}"/>
              </a:ext>
            </a:extLst>
          </p:cNvPr>
          <p:cNvSpPr>
            <a:spLocks noGrp="1"/>
          </p:cNvSpPr>
          <p:nvPr/>
        </p:nvSpPr>
        <p:spPr>
          <a:xfrm>
            <a:off x="34671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测VOUT峰值是否远离36.66V内部OVP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4B8EA2D-993E-4F8E-892F-154646E7DD64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441372A-EB64-48F3-A7FE-C70B7E04B9EE}"/>
              </a:ext>
            </a:extLst>
          </p:cNvPr>
          <p:cNvSpPr>
            <a:spLocks noGrp="1"/>
          </p:cNvSpPr>
          <p:nvPr/>
        </p:nvSpPr>
        <p:spPr>
          <a:xfrm>
            <a:off x="63246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ED2586-73E2-4089-B342-9231E54EC6C0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F14361-5B40-4357-9973-3AFA5AF67BDF}"/>
              </a:ext>
            </a:extLst>
          </p:cNvPr>
          <p:cNvSpPr>
            <a:spLocks noGrp="1"/>
          </p:cNvSpPr>
          <p:nvPr/>
        </p:nvSpPr>
        <p:spPr>
          <a:xfrm>
            <a:off x="67818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短路/限流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7B05B64-D809-4839-B4ED-79DDE0C50163}"/>
              </a:ext>
            </a:extLst>
          </p:cNvPr>
          <p:cNvSpPr>
            <a:spLocks noGrp="1"/>
          </p:cNvSpPr>
          <p:nvPr/>
        </p:nvSpPr>
        <p:spPr>
          <a:xfrm>
            <a:off x="63627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从低能量开始；验证SENSE硬保护和恢复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C2E579C-CA64-4E1C-B43E-C66EF3DC9186}"/>
              </a:ext>
            </a:extLst>
          </p:cNvPr>
          <p:cNvSpPr>
            <a:spLocks noGrp="1"/>
          </p:cNvSpPr>
          <p:nvPr/>
        </p:nvSpPr>
        <p:spPr>
          <a:xfrm>
            <a:off x="9086850" y="3905250"/>
            <a:ext cx="253365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4B33D7B-7AEE-45D4-85EB-C39B323B2038}"/>
              </a:ext>
            </a:extLst>
          </p:cNvPr>
          <p:cNvSpPr>
            <a:spLocks noGrp="1"/>
          </p:cNvSpPr>
          <p:nvPr/>
        </p:nvSpPr>
        <p:spPr>
          <a:xfrm>
            <a:off x="9220200" y="40386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AAAF06C-ABF3-41C9-A008-415CAF2EBE23}"/>
              </a:ext>
            </a:extLst>
          </p:cNvPr>
          <p:cNvSpPr>
            <a:spLocks noGrp="1"/>
          </p:cNvSpPr>
          <p:nvPr/>
        </p:nvSpPr>
        <p:spPr>
          <a:xfrm>
            <a:off x="9220200" y="409575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889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92CA58-AA0C-4929-9C38-74CED9938A0B}"/>
              </a:ext>
            </a:extLst>
          </p:cNvPr>
          <p:cNvSpPr>
            <a:spLocks noGrp="1"/>
          </p:cNvSpPr>
          <p:nvPr/>
        </p:nvSpPr>
        <p:spPr>
          <a:xfrm>
            <a:off x="9677400" y="40386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重复启动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82EB886-6C67-4288-AE9D-A00D445887A4}"/>
              </a:ext>
            </a:extLst>
          </p:cNvPr>
          <p:cNvSpPr>
            <a:spLocks noGrp="1"/>
          </p:cNvSpPr>
          <p:nvPr/>
        </p:nvSpPr>
        <p:spPr>
          <a:xfrm>
            <a:off x="9258300" y="4457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6"/>
          </a:bodyPr>
          <a:lstStyle/>
          <a:p>
            <a:pPr algn="l">
              <a:buNone/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热机、冷机、低输入、满载分别循环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5F29DC0-70B5-4ED2-9337-F3A2D6817335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所有故障测试先定义最大能量和退出条件；不要把“从小到大”当成器件绝不会受损的保证。</a:t>
            </a:r>
          </a:p>
        </p:txBody>
      </p:sp>
    </p:spTree>
    <p:extLst>
      <p:ext uri="{BB962C8B-B14F-4D97-AF65-F5344CB8AC3E}">
        <p14:creationId xmlns:p14="http://schemas.microsoft.com/office/powerpoint/2010/main" val="366569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8120B20-4E74-46A8-B066-60EE32687621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一对一技术审图工作稿 · 当前工程 8.13 5.epro2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898A64-F980-421C-B629-AA5656BCD643}"/>
              </a:ext>
            </a:extLst>
          </p:cNvPr>
          <p:cNvSpPr>
            <a:spLocks noGrp="1"/>
          </p:cNvSpPr>
          <p:nvPr/>
        </p:nvSpPr>
        <p:spPr>
          <a:xfrm>
            <a:off x="400050" y="5048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建议测量点与预期波形：把老师的判断变成可复现实验</a:t>
            </a: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400050" y="1200150"/>
            <a:ext cx="11391900" cy="0"/>
          </a:xfrm>
          <a:prstGeom prst="straightConnector1">
            <a:avLst/>
          </a:prstGeom>
          <a:ln w="9525">
            <a:solidFill>
              <a:srgbClr val="D9DEE5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D7C452B-3057-4FA3-BE50-75BCE74FD5DE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D4A24-ADE2-426A-8689-91C6E478F609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24AF40-8C98-44FF-8EDD-82A8C4081E25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5C7E26-528F-482E-91E2-386727008A40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9B4D9-F35A-4D28-9DC5-1AC5832CA485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SW+GND弹簧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2A0BF6-5F89-4ACA-9F61-E9265A02B0DA}"/>
              </a:ext>
            </a:extLst>
          </p:cNvPr>
          <p:cNvSpPr>
            <a:spLocks noGrp="1"/>
          </p:cNvSpPr>
          <p:nvPr/>
        </p:nvSpPr>
        <p:spPr>
          <a:xfrm>
            <a:off x="4305300" y="16859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看开关尖峰、振铃、占空比；严禁长鳄鱼夹地线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CECBD7B-6E5C-4016-B234-651CF8B21491}"/>
              </a:ext>
            </a:extLst>
          </p:cNvPr>
          <p:cNvSpPr>
            <a:spLocks noGrp="1"/>
          </p:cNvSpPr>
          <p:nvPr/>
        </p:nvSpPr>
        <p:spPr>
          <a:xfrm>
            <a:off x="10572750" y="17621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D45217-5475-4740-89F0-6C8672DD6DFD}"/>
              </a:ext>
            </a:extLst>
          </p:cNvPr>
          <p:cNvSpPr>
            <a:spLocks noGrp="1"/>
          </p:cNvSpPr>
          <p:nvPr/>
        </p:nvSpPr>
        <p:spPr>
          <a:xfrm>
            <a:off x="10668000" y="18097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F5E47C2-E852-4A47-95F2-0B3AA60A394F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4658767-3A31-4E2B-B46D-E86057AB05CC}"/>
              </a:ext>
            </a:extLst>
          </p:cNvPr>
          <p:cNvSpPr>
            <a:spLocks noGrp="1"/>
          </p:cNvSpPr>
          <p:nvPr/>
        </p:nvSpPr>
        <p:spPr>
          <a:xfrm>
            <a:off x="495300" y="24384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E758E0-8A29-4E3C-B476-CF328510FA4E}"/>
              </a:ext>
            </a:extLst>
          </p:cNvPr>
          <p:cNvSpPr>
            <a:spLocks noGrp="1"/>
          </p:cNvSpPr>
          <p:nvPr/>
        </p:nvSpPr>
        <p:spPr>
          <a:xfrm>
            <a:off x="495300" y="25050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384176-4DC7-4C2E-A411-875213E5C7F7}"/>
              </a:ext>
            </a:extLst>
          </p:cNvPr>
          <p:cNvSpPr>
            <a:spLocks noGrp="1"/>
          </p:cNvSpPr>
          <p:nvPr/>
        </p:nvSpPr>
        <p:spPr>
          <a:xfrm>
            <a:off x="1104900" y="24384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TG−SW / BG−GND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53C02A-1D40-4C98-B872-0A59A2E75BD2}"/>
              </a:ext>
            </a:extLst>
          </p:cNvPr>
          <p:cNvSpPr>
            <a:spLocks noGrp="1"/>
          </p:cNvSpPr>
          <p:nvPr/>
        </p:nvSpPr>
        <p:spPr>
          <a:xfrm>
            <a:off x="4305300" y="24288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看5V栅压、米勒平台、死区与两并联支路一致性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EF82F2-DC70-40FF-A394-431557C3DD21}"/>
              </a:ext>
            </a:extLst>
          </p:cNvPr>
          <p:cNvSpPr>
            <a:spLocks noGrp="1"/>
          </p:cNvSpPr>
          <p:nvPr/>
        </p:nvSpPr>
        <p:spPr>
          <a:xfrm>
            <a:off x="10572750" y="25050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701410-264C-4B9E-9B01-683A539C8961}"/>
              </a:ext>
            </a:extLst>
          </p:cNvPr>
          <p:cNvSpPr>
            <a:spLocks noGrp="1"/>
          </p:cNvSpPr>
          <p:nvPr/>
        </p:nvSpPr>
        <p:spPr>
          <a:xfrm>
            <a:off x="10668000" y="25527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8E29720-3CA8-4018-A40F-9256C534E9B6}"/>
              </a:ext>
            </a:extLst>
          </p:cNvPr>
          <p:cNvSpPr>
            <a:spLocks noGrp="1"/>
          </p:cNvSpPr>
          <p:nvPr/>
        </p:nvSpPr>
        <p:spPr>
          <a:xfrm>
            <a:off x="400050" y="30861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61EAAAA-D7D4-4B43-AA26-480BEEFDBFE6}"/>
              </a:ext>
            </a:extLst>
          </p:cNvPr>
          <p:cNvSpPr>
            <a:spLocks noGrp="1"/>
          </p:cNvSpPr>
          <p:nvPr/>
        </p:nvSpPr>
        <p:spPr>
          <a:xfrm>
            <a:off x="495300" y="3181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A9884C-519C-45C6-B89D-34B1FEC2E897}"/>
              </a:ext>
            </a:extLst>
          </p:cNvPr>
          <p:cNvSpPr>
            <a:spLocks noGrp="1"/>
          </p:cNvSpPr>
          <p:nvPr/>
        </p:nvSpPr>
        <p:spPr>
          <a:xfrm>
            <a:off x="495300" y="32480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3D53DB-708B-4BA5-A422-AAFF62F9DD17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R1两端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CA776A-6BF4-41C1-968C-4066BF130E5D}"/>
              </a:ext>
            </a:extLst>
          </p:cNvPr>
          <p:cNvSpPr>
            <a:spLocks noGrp="1"/>
          </p:cNvSpPr>
          <p:nvPr/>
        </p:nvSpPr>
        <p:spPr>
          <a:xfrm>
            <a:off x="4305300" y="31718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差分测45mV量级；同时读ISMON和DAC/CTRL1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BA9D82B-43D6-47BB-847B-6AE31AC41E88}"/>
              </a:ext>
            </a:extLst>
          </p:cNvPr>
          <p:cNvSpPr>
            <a:spLocks noGrp="1"/>
          </p:cNvSpPr>
          <p:nvPr/>
        </p:nvSpPr>
        <p:spPr>
          <a:xfrm>
            <a:off x="10572750" y="32480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 w="9525">
            <a:solidFill>
              <a:srgbClr val="D95C5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2671F7-C13D-4FA4-9DFA-2CBFF83E7026}"/>
              </a:ext>
            </a:extLst>
          </p:cNvPr>
          <p:cNvSpPr>
            <a:spLocks noGrp="1"/>
          </p:cNvSpPr>
          <p:nvPr/>
        </p:nvSpPr>
        <p:spPr>
          <a:xfrm>
            <a:off x="10668000" y="32956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必测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4224FAE-4B08-4330-985B-F7FE15EF6B2C}"/>
              </a:ext>
            </a:extLst>
          </p:cNvPr>
          <p:cNvSpPr>
            <a:spLocks noGrp="1"/>
          </p:cNvSpPr>
          <p:nvPr/>
        </p:nvSpPr>
        <p:spPr>
          <a:xfrm>
            <a:off x="400050" y="38290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C2502DD-960F-4017-952A-2BA2C6C933E8}"/>
              </a:ext>
            </a:extLst>
          </p:cNvPr>
          <p:cNvSpPr>
            <a:spLocks noGrp="1"/>
          </p:cNvSpPr>
          <p:nvPr/>
        </p:nvSpPr>
        <p:spPr>
          <a:xfrm>
            <a:off x="495300" y="3924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1074B4-ED2E-45CA-B781-78083400862E}"/>
              </a:ext>
            </a:extLst>
          </p:cNvPr>
          <p:cNvSpPr>
            <a:spLocks noGrp="1"/>
          </p:cNvSpPr>
          <p:nvPr/>
        </p:nvSpPr>
        <p:spPr>
          <a:xfrm>
            <a:off x="495300" y="39909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8B5071-B772-4BFD-B7A5-E89478855F93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R12两端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262AE2-1297-4AF9-959A-1A39C78D211A}"/>
              </a:ext>
            </a:extLst>
          </p:cNvPr>
          <p:cNvSpPr>
            <a:spLocks noGrp="1"/>
          </p:cNvSpPr>
          <p:nvPr/>
        </p:nvSpPr>
        <p:spPr>
          <a:xfrm>
            <a:off x="4305300" y="39147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差分测输入平均电流；对比IVINMON与输入表计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17A4EA0-D2DE-4ED5-AA95-9EC00DC85C68}"/>
              </a:ext>
            </a:extLst>
          </p:cNvPr>
          <p:cNvSpPr>
            <a:spLocks noGrp="1"/>
          </p:cNvSpPr>
          <p:nvPr/>
        </p:nvSpPr>
        <p:spPr>
          <a:xfrm>
            <a:off x="10572750" y="39909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89BEE0-21B6-4313-BFB3-F58600A1F894}"/>
              </a:ext>
            </a:extLst>
          </p:cNvPr>
          <p:cNvSpPr>
            <a:spLocks noGrp="1"/>
          </p:cNvSpPr>
          <p:nvPr/>
        </p:nvSpPr>
        <p:spPr>
          <a:xfrm>
            <a:off x="10668000" y="40386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必测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317323-DED7-484D-AEEC-EE96AA83AC49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E86023-C4D4-49B0-9A7C-0B62A877B691}"/>
              </a:ext>
            </a:extLst>
          </p:cNvPr>
          <p:cNvSpPr>
            <a:spLocks noGrp="1"/>
          </p:cNvSpPr>
          <p:nvPr/>
        </p:nvSpPr>
        <p:spPr>
          <a:xfrm>
            <a:off x="495300" y="46672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16FC0D-BD6C-4CAF-8BFC-9C16EAECDD2C}"/>
              </a:ext>
            </a:extLst>
          </p:cNvPr>
          <p:cNvSpPr>
            <a:spLocks noGrp="1"/>
          </p:cNvSpPr>
          <p:nvPr/>
        </p:nvSpPr>
        <p:spPr>
          <a:xfrm>
            <a:off x="495300" y="473392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DF1418-0D00-4A98-B1A6-86DF657E0AF0}"/>
              </a:ext>
            </a:extLst>
          </p:cNvPr>
          <p:cNvSpPr>
            <a:spLocks noGrp="1"/>
          </p:cNvSpPr>
          <p:nvPr/>
        </p:nvSpPr>
        <p:spPr>
          <a:xfrm>
            <a:off x="1104900" y="46672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VOUT/FB/VC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E5F67E-6291-4EF4-A25A-EAE80D5BF701}"/>
              </a:ext>
            </a:extLst>
          </p:cNvPr>
          <p:cNvSpPr>
            <a:spLocks noGrp="1"/>
          </p:cNvSpPr>
          <p:nvPr/>
        </p:nvSpPr>
        <p:spPr>
          <a:xfrm>
            <a:off x="4305300" y="465772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负载阶跃看过冲、恢复、环路振铃和限流切换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70F0811-1F8C-44EC-9132-A3EB31991D4A}"/>
              </a:ext>
            </a:extLst>
          </p:cNvPr>
          <p:cNvSpPr>
            <a:spLocks noGrp="1"/>
          </p:cNvSpPr>
          <p:nvPr/>
        </p:nvSpPr>
        <p:spPr>
          <a:xfrm>
            <a:off x="10572750" y="473392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3B66D9B-4EE4-49CA-A9E5-35C90C347DA9}"/>
              </a:ext>
            </a:extLst>
          </p:cNvPr>
          <p:cNvSpPr>
            <a:spLocks noGrp="1"/>
          </p:cNvSpPr>
          <p:nvPr/>
        </p:nvSpPr>
        <p:spPr>
          <a:xfrm>
            <a:off x="10668000" y="478155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必测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3844879-4F5C-4311-A624-9A0504DE3552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13919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768F5DC-3DBB-4F52-A55C-61D6BEA35CBE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D5EB6AB-2659-475B-9B08-FE0406D1B7A5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9DDA93-0029-454E-BB32-666C700D6A0B}"/>
              </a:ext>
            </a:extLst>
          </p:cNvPr>
          <p:cNvSpPr>
            <a:spLocks noGrp="1"/>
          </p:cNvSpPr>
          <p:nvPr/>
        </p:nvSpPr>
        <p:spPr>
          <a:xfrm>
            <a:off x="1104900" y="54102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Q3/Q12/D6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D75214-3934-43F9-BDD4-0A50AB0B3860}"/>
              </a:ext>
            </a:extLst>
          </p:cNvPr>
          <p:cNvSpPr>
            <a:spLocks noGrp="1"/>
          </p:cNvSpPr>
          <p:nvPr/>
        </p:nvSpPr>
        <p:spPr>
          <a:xfrm>
            <a:off x="4305300" y="54006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热插拔时同步测输入电压、P-MOS VDS、TVS电压和浪涌电流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B7C6136-E77F-4D8E-B226-612E8177859F}"/>
              </a:ext>
            </a:extLst>
          </p:cNvPr>
          <p:cNvSpPr>
            <a:spLocks noGrp="1"/>
          </p:cNvSpPr>
          <p:nvPr/>
        </p:nvSpPr>
        <p:spPr>
          <a:xfrm>
            <a:off x="10572750" y="54768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28C1632-C9A7-4F72-B90F-84CD0C83184C}"/>
              </a:ext>
            </a:extLst>
          </p:cNvPr>
          <p:cNvSpPr>
            <a:spLocks noGrp="1"/>
          </p:cNvSpPr>
          <p:nvPr/>
        </p:nvSpPr>
        <p:spPr>
          <a:xfrm>
            <a:off x="10668000" y="5524500"/>
            <a:ext cx="809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3809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</p:spTree>
    <p:extLst>
      <p:ext uri="{BB962C8B-B14F-4D97-AF65-F5344CB8AC3E}">
        <p14:creationId xmlns:p14="http://schemas.microsoft.com/office/powerpoint/2010/main" val="15877338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9637926-5AC9-4C60-8841-3695398CCBE8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请老师最后把每个问题归入三类，并给出可执行结论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19BDD92-A87A-4B9C-A3BA-4CB15F387091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3505200" cy="3200400"/>
          </a:xfrm>
          <a:prstGeom prst="roundRect">
            <a:avLst>
              <a:gd name="adj" fmla="val 3571"/>
            </a:avLst>
          </a:prstGeom>
          <a:solidFill>
            <a:srgbClr val="EAF5FB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9211E-CEEA-4C07-B0D0-546E625EFB0F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/>
          <a:p>
            <a:pPr algn="l">
              <a:buNone/>
              <a:defRPr sz="21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必须修改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A50A92-1D0D-499F-ACCB-53874BC5FF47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2819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投板或继续升功率前必须改；请写明位号、原因、修改值和PCB位置。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9210A1-4976-4604-9E04-4C3D335A3E2E}"/>
              </a:ext>
            </a:extLst>
          </p:cNvPr>
          <p:cNvSpPr>
            <a:spLocks noGrp="1"/>
          </p:cNvSpPr>
          <p:nvPr/>
        </p:nvSpPr>
        <p:spPr>
          <a:xfrm>
            <a:off x="628650" y="403860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216"/>
          </a:bodyPr>
          <a:lstStyle/>
          <a:p>
            <a:pPr algn="l">
              <a:buNone/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记录：位号 + 风险 + 修改值 + 截止版本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F337244-64C8-4B42-ACDB-6CF1982F3F04}"/>
              </a:ext>
            </a:extLst>
          </p:cNvPr>
          <p:cNvSpPr>
            <a:spLocks noGrp="1"/>
          </p:cNvSpPr>
          <p:nvPr/>
        </p:nvSpPr>
        <p:spPr>
          <a:xfrm>
            <a:off x="4343400" y="1524000"/>
            <a:ext cx="3505200" cy="3200400"/>
          </a:xfrm>
          <a:prstGeom prst="roundRect">
            <a:avLst>
              <a:gd name="adj" fmla="val 3571"/>
            </a:avLst>
          </a:prstGeom>
          <a:solidFill>
            <a:srgbClr val="F3F5F7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EB5A6A-2F54-45AF-983D-1D976519BEBB}"/>
              </a:ext>
            </a:extLst>
          </p:cNvPr>
          <p:cNvSpPr>
            <a:spLocks noGrp="1"/>
          </p:cNvSpPr>
          <p:nvPr/>
        </p:nvSpPr>
        <p:spPr>
          <a:xfrm>
            <a:off x="4572000" y="17907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/>
          <a:p>
            <a:pPr algn="l">
              <a:buNone/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必须验证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BC6373-E883-4FB0-B945-598FE787D97B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2819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首版可以保留，但必须给出工况、仪器、停止条件和通过标准。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B0DF22-94E8-4FB3-B0CB-7339A50D95DF}"/>
              </a:ext>
            </a:extLst>
          </p:cNvPr>
          <p:cNvSpPr>
            <a:spLocks noGrp="1"/>
          </p:cNvSpPr>
          <p:nvPr/>
        </p:nvSpPr>
        <p:spPr>
          <a:xfrm>
            <a:off x="4572000" y="403860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记录：工况 + 仪器 + 波形/温升门槛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5E0BE0-476A-4B97-9D0C-A6A44308E5B1}"/>
              </a:ext>
            </a:extLst>
          </p:cNvPr>
          <p:cNvSpPr>
            <a:spLocks noGrp="1"/>
          </p:cNvSpPr>
          <p:nvPr/>
        </p:nvSpPr>
        <p:spPr>
          <a:xfrm>
            <a:off x="8286750" y="1524000"/>
            <a:ext cx="350520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1CD49E-681A-4634-91B4-21CF3F926EF7}"/>
              </a:ext>
            </a:extLst>
          </p:cNvPr>
          <p:cNvSpPr>
            <a:spLocks noGrp="1"/>
          </p:cNvSpPr>
          <p:nvPr/>
        </p:nvSpPr>
        <p:spPr>
          <a:xfrm>
            <a:off x="8515350" y="17907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/>
          <a:p>
            <a:pPr algn="l">
              <a:buNone/>
              <a:defRPr sz="2100" b="1">
                <a:solidFill>
                  <a:srgbClr val="2F8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8F6B"/>
                </a:solidFill>
                <a:latin typeface="Microsoft YaHei"/>
                <a:ea typeface="Microsoft YaHei"/>
                <a:cs typeface="Microsoft YaHei"/>
              </a:rPr>
              <a:t>可以保留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901A04-508A-4BA7-85AC-789B29E95B89}"/>
              </a:ext>
            </a:extLst>
          </p:cNvPr>
          <p:cNvSpPr>
            <a:spLocks noGrp="1"/>
          </p:cNvSpPr>
          <p:nvPr/>
        </p:nvSpPr>
        <p:spPr>
          <a:xfrm>
            <a:off x="8515350" y="2400300"/>
            <a:ext cx="28194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数据手册、计算、布局和风险都可接受；仍说明量产前要监测什么。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6EE8F5-F8B4-40B5-A42E-D3232CCCA13B}"/>
              </a:ext>
            </a:extLst>
          </p:cNvPr>
          <p:cNvSpPr>
            <a:spLocks noGrp="1"/>
          </p:cNvSpPr>
          <p:nvPr/>
        </p:nvSpPr>
        <p:spPr>
          <a:xfrm>
            <a:off x="8515350" y="403860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记录：依据 + 仍需监测项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38CB8-6DD2-4D3D-9B7A-59D4E013DD60}"/>
              </a:ext>
            </a:extLst>
          </p:cNvPr>
          <p:cNvSpPr>
            <a:spLocks noGrp="1"/>
          </p:cNvSpPr>
          <p:nvPr/>
        </p:nvSpPr>
        <p:spPr>
          <a:xfrm>
            <a:off x="400050" y="5257800"/>
            <a:ext cx="11391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老师审完后：按结论修改epro2 → 再跑DRC/网表/BOM检查 → 复核功率回路 → 执行分级样机测试。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A757B6-0383-4322-91D8-E15EFA776A1B}"/>
              </a:ext>
            </a:extLst>
          </p:cNvPr>
          <p:cNvSpPr>
            <a:spLocks noGrp="1"/>
          </p:cNvSpPr>
          <p:nvPr/>
        </p:nvSpPr>
        <p:spPr>
          <a:xfrm>
            <a:off x="400050" y="5981700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833"/>
          </a:bodyPr>
          <a:lstStyle/>
          <a:p>
            <a:pPr algn="ctr">
              <a:buNone/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AI辅助设计 · DRC=0不代表电气、热、EMI与制造通过 · 最终以老师独立审查和样机实测为准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D2DEA7-82DE-41C9-8B47-BD0CBB0E23F0}"/>
              </a:ext>
            </a:extLst>
          </p:cNvPr>
          <p:cNvSpPr>
            <a:spLocks noGrp="1"/>
          </p:cNvSpPr>
          <p:nvPr/>
        </p:nvSpPr>
        <p:spPr>
          <a:xfrm>
            <a:off x="11258550" y="6419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9868428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8493</Words>
  <Application>Microsoft Office PowerPoint</Application>
  <DocSecurity>0</DocSecurity>
  <PresentationFormat>宽屏</PresentationFormat>
  <Paragraphs>1140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豪杰 卞</cp:lastModifiedBy>
  <cp:revision>1</cp:revision>
  <dcterms:created xsi:type="dcterms:W3CDTF">2026-08-19T14:06:11Z</dcterms:created>
  <dcterms:modified xsi:type="dcterms:W3CDTF">2026-08-25T13:03:16Z</dcterms:modified>
</cp:coreProperties>
</file>