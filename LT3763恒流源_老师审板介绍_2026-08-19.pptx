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1b42c97e254e68" /><Relationship Type="http://schemas.openxmlformats.org/officeDocument/2006/relationships/extended-properties" Target="/docProps/app.xml" Id="R974a71a9c35c43c5" /><Relationship Type="http://schemas.openxmlformats.org/officeDocument/2006/relationships/officeDocument" Target="/ppt/presentation.xml" Id="R9d7b8474b1d14f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136806ebda4fed"/>
  </p:sldMasterIdLst>
  <p:notesMasterIdLst>
    <p:notesMasterId xmlns:r="http://schemas.openxmlformats.org/officeDocument/2006/relationships" r:id="R4e707fd80f944c6a"/>
  </p:notesMasterIdLst>
  <p:sldIdLst>
    <p:sldId xmlns:r="http://schemas.openxmlformats.org/officeDocument/2006/relationships" id="256" r:id="Rd0232ea009614f9d"/>
    <p:sldId xmlns:r="http://schemas.openxmlformats.org/officeDocument/2006/relationships" id="257" r:id="Rfa83d5332d674ff0"/>
    <p:sldId xmlns:r="http://schemas.openxmlformats.org/officeDocument/2006/relationships" id="258" r:id="R2a1ba5ab090e4fc5"/>
    <p:sldId xmlns:r="http://schemas.openxmlformats.org/officeDocument/2006/relationships" id="259" r:id="Rcf9bfa18cc8b4f7d"/>
    <p:sldId xmlns:r="http://schemas.openxmlformats.org/officeDocument/2006/relationships" id="260" r:id="Rdb4b2d3c88d44cb5"/>
    <p:sldId xmlns:r="http://schemas.openxmlformats.org/officeDocument/2006/relationships" id="261" r:id="Rfb5f662e0f0844a8"/>
    <p:sldId xmlns:r="http://schemas.openxmlformats.org/officeDocument/2006/relationships" id="262" r:id="R777cc499e6d74bba"/>
    <p:sldId xmlns:r="http://schemas.openxmlformats.org/officeDocument/2006/relationships" id="263" r:id="R4f68c37d73b24dc4"/>
    <p:sldId xmlns:r="http://schemas.openxmlformats.org/officeDocument/2006/relationships" id="264" r:id="Rb732d46357574ecd"/>
    <p:sldId xmlns:r="http://schemas.openxmlformats.org/officeDocument/2006/relationships" id="265" r:id="R9ce66021d3734b01"/>
    <p:sldId xmlns:r="http://schemas.openxmlformats.org/officeDocument/2006/relationships" id="266" r:id="Rc6ecf56cbaba41b8"/>
    <p:sldId xmlns:r="http://schemas.openxmlformats.org/officeDocument/2006/relationships" id="267" r:id="Ref07695463464b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a01968ba404ecf" /><Relationship Type="http://schemas.openxmlformats.org/officeDocument/2006/relationships/slideMaster" Target="/ppt/slideMasters/slideMaster1.xml" Id="R56136806ebda4fed" /><Relationship Type="http://schemas.openxmlformats.org/officeDocument/2006/relationships/notesMaster" Target="/ppt/notesMasters/notesMaster1.xml" Id="R4e707fd80f944c6a" /><Relationship Type="http://schemas.openxmlformats.org/officeDocument/2006/relationships/presProps" Target="/ppt/presProps.xml" Id="R9471f847fe5e407c" /><Relationship Type="http://schemas.openxmlformats.org/officeDocument/2006/relationships/tableStyles" Target="/ppt/tableStyles.xml" Id="Rc661757624744266" /><Relationship Type="http://schemas.openxmlformats.org/officeDocument/2006/relationships/slide" Target="/ppt/slides/slide1.xml" Id="Rd0232ea009614f9d" /><Relationship Type="http://schemas.openxmlformats.org/officeDocument/2006/relationships/slide" Target="/ppt/slides/slide2.xml" Id="Rfa83d5332d674ff0" /><Relationship Type="http://schemas.openxmlformats.org/officeDocument/2006/relationships/slide" Target="/ppt/slides/slide3.xml" Id="R2a1ba5ab090e4fc5" /><Relationship Type="http://schemas.openxmlformats.org/officeDocument/2006/relationships/slide" Target="/ppt/slides/slide4.xml" Id="Rcf9bfa18cc8b4f7d" /><Relationship Type="http://schemas.openxmlformats.org/officeDocument/2006/relationships/slide" Target="/ppt/slides/slide5.xml" Id="Rdb4b2d3c88d44cb5" /><Relationship Type="http://schemas.openxmlformats.org/officeDocument/2006/relationships/slide" Target="/ppt/slides/slide6.xml" Id="Rfb5f662e0f0844a8" /><Relationship Type="http://schemas.openxmlformats.org/officeDocument/2006/relationships/slide" Target="/ppt/slides/slide7.xml" Id="R777cc499e6d74bba" /><Relationship Type="http://schemas.openxmlformats.org/officeDocument/2006/relationships/slide" Target="/ppt/slides/slide8.xml" Id="R4f68c37d73b24dc4" /><Relationship Type="http://schemas.openxmlformats.org/officeDocument/2006/relationships/slide" Target="/ppt/slides/slide9.xml" Id="Rb732d46357574ecd" /><Relationship Type="http://schemas.openxmlformats.org/officeDocument/2006/relationships/slide" Target="/ppt/slides/slide10.xml" Id="R9ce66021d3734b01" /><Relationship Type="http://schemas.openxmlformats.org/officeDocument/2006/relationships/slide" Target="/ppt/slides/slide11.xml" Id="Rc6ecf56cbaba41b8" /><Relationship Type="http://schemas.openxmlformats.org/officeDocument/2006/relationships/slide" Target="/ppt/slides/slide12.xml" Id="Ref07695463464b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230afb088c49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9b697bfa334820" /><Relationship Type="http://schemas.openxmlformats.org/officeDocument/2006/relationships/notesMaster" Target="/ppt/notesMasters/notesMaster1.xml" Id="R0a3c4b281dd446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8ab26ff082456c" /><Relationship Type="http://schemas.openxmlformats.org/officeDocument/2006/relationships/notesMaster" Target="/ppt/notesMasters/notesMaster1.xml" Id="R9fe857544dd841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6684d3610d418f" /><Relationship Type="http://schemas.openxmlformats.org/officeDocument/2006/relationships/notesMaster" Target="/ppt/notesMasters/notesMaster1.xml" Id="Rb4056f053b2d45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8cbe5cbe624c5d" /><Relationship Type="http://schemas.openxmlformats.org/officeDocument/2006/relationships/notesMaster" Target="/ppt/notesMasters/notesMaster1.xml" Id="Ref7e1ad5283646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a72a98ce11462d" /><Relationship Type="http://schemas.openxmlformats.org/officeDocument/2006/relationships/notesMaster" Target="/ppt/notesMasters/notesMaster1.xml" Id="R7d5aefb2627542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76445e02fe4514" /><Relationship Type="http://schemas.openxmlformats.org/officeDocument/2006/relationships/notesMaster" Target="/ppt/notesMasters/notesMaster1.xml" Id="R76ace66e6d7a46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c5c9f8b0754e2b" /><Relationship Type="http://schemas.openxmlformats.org/officeDocument/2006/relationships/notesMaster" Target="/ppt/notesMasters/notesMaster1.xml" Id="R66017ac320d84f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4bdf0cc12b4061" /><Relationship Type="http://schemas.openxmlformats.org/officeDocument/2006/relationships/notesMaster" Target="/ppt/notesMasters/notesMaster1.xml" Id="Rbb0dab4617d64f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f75fc0a6b34007" /><Relationship Type="http://schemas.openxmlformats.org/officeDocument/2006/relationships/notesMaster" Target="/ppt/notesMasters/notesMaster1.xml" Id="Rf7a831d3491e47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4807d4d7204aef" /><Relationship Type="http://schemas.openxmlformats.org/officeDocument/2006/relationships/notesMaster" Target="/ppt/notesMasters/notesMaster1.xml" Id="Rfaf1d6a4a11a45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52f3f3da3244f2" /><Relationship Type="http://schemas.openxmlformats.org/officeDocument/2006/relationships/notesMaster" Target="/ppt/notesMasters/notesMaster1.xml" Id="Ra6d3b6ec207d45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43945b626e43e2" /><Relationship Type="http://schemas.openxmlformats.org/officeDocument/2006/relationships/notesMaster" Target="/ppt/notesMasters/notesMaster1.xml" Id="Ra0ef74541b364a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</a:t>
            </a:r>
          </a:p>
          <a:p xmlns:a="http://schemas.openxmlformats.org/drawingml/2006/main">
            <a:r>
              <a:t>先直接说明背景：这不是已经定型的产品板，而是一块约500W的实验样机。我不是电气专业学生，设计过程使用了AI辅助，所以这次最希望老师帮助判断的是：有没有投板前硬伤，以及哪些问题必须靠样机测试才能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C:/Users/Administrator/Desktop/henliu/8.13 5.epro2</a:t>
            </a:r>
          </a:p>
          <a:p xmlns:a="http://schemas.openxmlformats.org/drawingml/2006/main">
            <a:r>
              <a:t>- C:/Users/Administrator/Desktop/henliu/tmp/epro_8135_review/top_full.png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</a:t>
            </a:r>
          </a:p>
          <a:p xmlns:a="http://schemas.openxmlformats.org/drawingml/2006/main">
            <a:r>
              <a:t>这一页只讲目标，不讲细节。老师需要先知道它不是普通小电源：29V×18A约522W，输入端在36V下大约15A以上，任何铜皮、过孔、连接器和热设计问题都会被放大。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C:/Users/Administrator/Desktop/henliu/PCB独立AI复审交接_2026-08-14.md</a:t>
            </a:r>
          </a:p>
          <a:p xmlns:a="http://schemas.openxmlformats.org/drawingml/2006/main">
            <a:r>
              <a:t>- https://www.analog.com/media/en/technical-documentation/data-sheets/lt3763.pdf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</a:t>
            </a:r>
          </a:p>
          <a:p xmlns:a="http://schemas.openxmlformats.org/drawingml/2006/main">
            <a:r>
              <a:t>介绍时沿蓝线从左到右指。重点说清楚：真正需要审查的不是某一根线，而是正向电流和回流构成的闭环；半桥本地电容到上下MOS的高di/dt小环路是噪声和尖峰的核心。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C:/Users/Administrator/Desktop/henliu/8.13 5.epro2</a:t>
            </a:r>
          </a:p>
          <a:p xmlns:a="http://schemas.openxmlformats.org/drawingml/2006/main">
            <a:r>
              <a:t>- https://www.analog.com/media/en/technical-documentation/data-sheets/lt3763.pdf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</a:t>
            </a:r>
          </a:p>
          <a:p xmlns:a="http://schemas.openxmlformats.org/drawingml/2006/main">
            <a:r>
              <a:t>澄清两个容易误解的点：第一，输入电流检测的1kΩ/1µF滤波是平均输入限流，不是快速短路保护；快速逐周期保护走SENSE±。第二，软件DAC只设置正常目标，不应被描述成独立安全保护。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https://www.analog.com/media/en/technical-documentation/data-sheets/lt3763.pdf</a:t>
            </a:r>
          </a:p>
          <a:p xmlns:a="http://schemas.openxmlformats.org/drawingml/2006/main">
            <a:r>
              <a:t>- C:/Users/Administrator/Desktop/henliu/PCB独立AI复审交接_2026-08-14.md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</a:t>
            </a:r>
          </a:p>
          <a:p xmlns:a="http://schemas.openxmlformats.org/drawingml/2006/main">
            <a:r>
              <a:t>这一页不要声称布局已经通过。先说已完成的改动：SW底层大面积铜已经删除，本地电容已增加，L6到R1主要留在顶层以保护Kelvin边界。然后请老师从回路面积、均流和采样污染三个角度判断。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C:/Users/Administrator/Desktop/henliu/tmp/epro_8135_review/top_power_detail.png</a:t>
            </a:r>
          </a:p>
          <a:p xmlns:a="http://schemas.openxmlformats.org/drawingml/2006/main">
            <a:r>
              <a:t>- C:/Users/Administrator/Desktop/henliu/8.13 5.epro2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</a:t>
            </a:r>
          </a:p>
          <a:p xmlns:a="http://schemas.openxmlformats.org/drawingml/2006/main">
            <a:r>
              <a:t>把这里描述为‘可用于实验，但没有完成产品级浪涌/热插拔证明’。慢慢升压只能降低首次上电风险，不能证明直接36V接入、线缆振铃、TVS钳位、MOS线性区SOA和RC脉冲耐量合格。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C:/Users/Administrator/Desktop/henliu/tmp/epro_8135_review/top_input.png</a:t>
            </a:r>
          </a:p>
          <a:p xmlns:a="http://schemas.openxmlformats.org/drawingml/2006/main">
            <a:r>
              <a:t>- https://www.littelfuse.com/assetdocs/littelfuse_tvs_diode_smcj_datasheet.pdf?assetguid=37388813-0d6d-4329-969b-1aa8b7614ac1</a:t>
            </a:r>
          </a:p>
          <a:p xmlns:a="http://schemas.openxmlformats.org/drawingml/2006/main">
            <a:r>
              <a:t>- https://www.vishay.com/docs/73471/sum110p0.pdf</a:t>
            </a:r>
          </a:p>
          <a:p xmlns:a="http://schemas.openxmlformats.org/drawingml/2006/main">
            <a:r>
              <a:t>- https://assets.nexperia.com/documents/data-sheet/BZT52_SER.pdf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</a:t>
            </a:r>
          </a:p>
          <a:p xmlns:a="http://schemas.openxmlformats.org/drawingml/2006/main">
            <a:r>
              <a:t>这一页建议你提前熟悉四个数：522W、输入约15.3A、电感峰值约20A、R1约0.81W。老师追问时，不需要背全部公式，但要说明假设：36V输入、29V/18A输出、200kHz、效率按95%估算。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https://www.analog.com/media/en/technical-documentation/data-sheets/lt3763.pdf</a:t>
            </a:r>
          </a:p>
          <a:p xmlns:a="http://schemas.openxmlformats.org/drawingml/2006/main">
            <a:r>
              <a:t>- C:/Users/Administrator/Desktop/henliu/PCB独立AI复审交接_2026-08-14.md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</a:t>
            </a:r>
          </a:p>
          <a:p xmlns:a="http://schemas.openxmlformats.org/drawingml/2006/main">
            <a:r>
              <a:t>解释为什么不是简单‘四层全铺同一网络’：高di/dt的SW不希望跨层扩大，但直流母线、输出和GND可以多层并联。过孔数量多不等于一定够，需要结合孔铜、铜厚、局部入口宽度和热像判断。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C:/Users/Administrator/Desktop/henliu/tmp/epro_8135_review/inner2_power.png</a:t>
            </a:r>
          </a:p>
          <a:p xmlns:a="http://schemas.openxmlformats.org/drawingml/2006/main">
            <a:r>
              <a:t>- C:/Users/Administrator/Desktop/henliu/tmp/epro_8135_review/bottom_power.png</a:t>
            </a:r>
          </a:p>
          <a:p xmlns:a="http://schemas.openxmlformats.org/drawingml/2006/main">
            <a:r>
              <a:t>- C:/Users/Administrator/Desktop/henliu/8.13 5.epro2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</a:t>
            </a:r>
          </a:p>
          <a:p xmlns:a="http://schemas.openxmlformats.org/drawingml/2006/main">
            <a:r>
              <a:t>这六项不是说板子一定会坏，而是目前证据不足。请老师帮忙把每项归类为：投板前必须改、实验板可保留但必须测试、仅优化、已经合理。这样比问‘还有没有问题’更容易得到明确答案。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C:/Users/Administrator/Desktop/henliu/PCB独立AI复审交接_2026-08-14.md</a:t>
            </a:r>
          </a:p>
          <a:p xmlns:a="http://schemas.openxmlformats.org/drawingml/2006/main">
            <a:r>
              <a:t>- https://www.ti.com/lit/ds/symlink/lm5164.pdf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</a:t>
            </a:r>
          </a:p>
          <a:p xmlns:a="http://schemas.openxmlformats.org/drawingml/2006/main">
            <a:r>
              <a:t>把这一页打印或打开在电脑旁边。不要泛泛地问‘您看有没有问题’，而是逐项问判断和依据。对老师不确定的地方，继续问需要补什么资料：原理图PDF、Gerber、BOM、铜厚、波形还是热像。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C:/Users/Administrator/Desktop/henliu/PCB独立AI复审交接_2026-08-14.md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</a:t>
            </a:r>
          </a:p>
          <a:p xmlns:a="http://schemas.openxmlformats.org/drawingml/2006/main">
            <a:r>
              <a:t>这一页是为了证明测试有顺序。前四步正常后，才能做满载和故障测试。测SW和栅极要用短地弹簧或差分探头，不能用长鳄鱼夹地线；热插拔与短路必须在限流、保险和安全隔离条件下进行。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https://www.analog.com/media/en/technical-documentation/data-sheets/lt3763.pdf</a:t>
            </a:r>
          </a:p>
          <a:p xmlns:a="http://schemas.openxmlformats.org/drawingml/2006/main">
            <a:r>
              <a:t>- C:/Users/Administrator/Desktop/henliu/PCB独立AI复审交接_2026-08-14.md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</a:t>
            </a:r>
          </a:p>
          <a:p xmlns:a="http://schemas.openxmlformats.org/drawingml/2006/main">
            <a:r>
              <a:t>最后主动请老师给可执行结论，不要只收集评价。说明你愿意据此修改并再次复核。也再次透明披露AI辅助：它适合整理和计算，但高功率硬件的最终安全性必须由有经验的人和受控实验验证。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C:/Users/Administrator/Desktop/henliu/8.13 5.epro2</a:t>
            </a:r>
          </a:p>
          <a:p xmlns:a="http://schemas.openxmlformats.org/drawingml/2006/main">
            <a:r>
              <a:t>- C:/Users/Administrator/Desktop/henliu/PCB独立AI复审交接_2026-08-14.md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58e68d43142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17098701a44c16" /><Relationship Type="http://schemas.openxmlformats.org/officeDocument/2006/relationships/slideLayout" Target="/ppt/slideLayouts/slideLayout1.xml" Id="R1e99b5f124044a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99b5f124044a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ad513e36f4d21" /><Relationship Type="http://schemas.openxmlformats.org/officeDocument/2006/relationships/image" Target="/ppt/media/image.png" Id="Rbbda6ba2b3424045" /><Relationship Type="http://schemas.openxmlformats.org/officeDocument/2006/relationships/notesSlide" Target="/ppt/notesSlides/notesSlide1.xml" Id="R9fd4a07c02ca4c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32f4834f74d6a" /><Relationship Type="http://schemas.openxmlformats.org/officeDocument/2006/relationships/notesSlide" Target="/ppt/notesSlides/notesSlide2.xml" Id="Rf5a4238337134b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bfed968884b23" /><Relationship Type="http://schemas.openxmlformats.org/officeDocument/2006/relationships/notesSlide" Target="/ppt/notesSlides/notesSlide3.xml" Id="R20cf0bcbc19843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3a2f7f0c54cbe" /><Relationship Type="http://schemas.openxmlformats.org/officeDocument/2006/relationships/notesSlide" Target="/ppt/notesSlides/notesSlide4.xml" Id="Rb6eef91840a445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aaaca6565423e" /><Relationship Type="http://schemas.openxmlformats.org/officeDocument/2006/relationships/image" Target="/ppt/media/image2.png" Id="Rd868eb04e38b4101" /><Relationship Type="http://schemas.openxmlformats.org/officeDocument/2006/relationships/notesSlide" Target="/ppt/notesSlides/notesSlide5.xml" Id="R87ac27d4eab84f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6db9f03334cb9" /><Relationship Type="http://schemas.openxmlformats.org/officeDocument/2006/relationships/image" Target="/ppt/media/image3.png" Id="R84149732780a489f" /><Relationship Type="http://schemas.openxmlformats.org/officeDocument/2006/relationships/notesSlide" Target="/ppt/notesSlides/notesSlide6.xml" Id="R01e4b75e4f0047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4234e76484ada" /><Relationship Type="http://schemas.openxmlformats.org/officeDocument/2006/relationships/notesSlide" Target="/ppt/notesSlides/notesSlide7.xml" Id="R5a77fcd2c12f46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2e935ecff4cb6" /><Relationship Type="http://schemas.openxmlformats.org/officeDocument/2006/relationships/image" Target="/ppt/media/image4.png" Id="R2f0335d051fa43ef" /><Relationship Type="http://schemas.openxmlformats.org/officeDocument/2006/relationships/image" Target="/ppt/media/image5.png" Id="Rff9d61edc7b94e4b" /><Relationship Type="http://schemas.openxmlformats.org/officeDocument/2006/relationships/notesSlide" Target="/ppt/notesSlides/notesSlide8.xml" Id="R5ed6c4cfbdda4a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9cf60f66746ad" /><Relationship Type="http://schemas.openxmlformats.org/officeDocument/2006/relationships/notesSlide" Target="/ppt/notesSlides/notesSlide9.xml" Id="R228134489dd34f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3d6d057f14518" /><Relationship Type="http://schemas.openxmlformats.org/officeDocument/2006/relationships/notesSlide" Target="/ppt/notesSlides/notesSlide10.xml" Id="Rf5b3ae47b81740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dd5784cca44aa" /><Relationship Type="http://schemas.openxmlformats.org/officeDocument/2006/relationships/notesSlide" Target="/ppt/notesSlides/notesSlide11.xml" Id="Rd5aa76131a6b45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10373c69d4fa3" /><Relationship Type="http://schemas.openxmlformats.org/officeDocument/2006/relationships/notesSlide" Target="/ppt/notesSlides/notesSlide12.xml" Id="Rf046ba3828994d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BDF2B-4D94-43FC-8C36-4AE63116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独立审板介绍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F0F36-7A96-4DA5-93A6-F0B837B0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47750"/>
            <a:ext cx="52197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36V → 29V / 18A</a:t>
            </a:r>
          </a:p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LT3763 恒流源板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5CC92-1ECA-4C97-8859-214FC8ED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7655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面向电力电子老师的功能、布局、风险与验证说明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33367-3E29-439F-A608-436BA63A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0"/>
            <a:ext cx="1238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0E6EA-B774-4CA6-87F1-AB1A0EC4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 522 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16F10-04A7-417E-8491-2FCB99ED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00500"/>
            <a:ext cx="1314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F57AE-3D27-4908-BED6-57FC5C43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48125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同步 Buck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76ACE-1254-4F80-85BF-E929E2C9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1962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06EFF-3543-4248-B390-3D77F7F0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四层 · 计划全 2 oz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BD1F1-04E3-4918-82BB-1728A1E7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当前工程：8.13 5.epro2</a:t>
            </a:r>
          </a:p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日期：2026-08-19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FB4FC-3093-4744-A7A4-48D8EED4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"/>
            <a:ext cx="5695950" cy="5810250"/>
          </a:xfrm>
          <a:prstGeom xmlns:a="http://schemas.openxmlformats.org/drawingml/2006/main" prst="roundRect">
            <a:avLst>
              <a:gd name="adj" fmla="val 200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a6ba2b3424045"/>
          <a:stretch xmlns:a="http://schemas.openxmlformats.org/drawingml/2006/main"/>
        </p:blipFill>
        <p:spPr>
          <a:xfrm xmlns:a="http://schemas.openxmlformats.org/drawingml/2006/main">
            <a:off x="6096000" y="1018674"/>
            <a:ext cx="5695950" cy="4496803"/>
          </a:xfrm>
          <a:prstGeom xmlns:a="http://schemas.openxmlformats.org/drawingml/2006/main" prst="roundRect">
            <a:avLst>
              <a:gd name="adj" fmla="val 200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2365F-D7B9-4A38-88C8-E52CA736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86500"/>
            <a:ext cx="569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AI 辅助设计；请以独立审查和样机实测作为最终依据</a:t>
            </a:r>
          </a:p>
        </p:txBody>
      </p:sp>
    </p:spTree>
    <p:extLst>
      <p:ext uri="{BB962C8B-B14F-4D97-AF65-F5344CB8AC3E}">
        <p14:creationId xmlns:p14="http://schemas.microsoft.com/office/powerpoint/2010/main" val="743407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7F9C54-7A78-41FA-B736-E51C95D3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LT3763 恒流源 · 独立审板介绍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D94AF-BDB7-415E-B28A-81151A59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先用一分钟说明：这块板做什么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3772E-A40E-476F-94AB-0CE21EB7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5D699-A61C-4D3B-9553-B1F940EE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26479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222BF-65C0-4D1B-8779-7C2544E8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36 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8903B-58DC-4CB7-BA04-F6985399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标称直流输入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1031E-61B6-4192-A89E-C057107B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43050"/>
            <a:ext cx="26479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3CD3E-4416-4A2D-833A-F092D58F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1450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29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9C507-36F1-486A-8725-65EC0DF8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050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目标输出电压，可到约30V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78E9D-C517-4CE8-9A4F-8B9F8058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26479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F21EC-E188-4842-9C91-7A97EBDC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18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24520-D2E4-4C81-A131-4F710674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50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连续输出目标，软件设定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EEB2B-B744-4CB8-A762-C08C74B0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43050"/>
            <a:ext cx="2705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FE179-1F19-40C0-A4F5-1094AB04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1450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≈522 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A2F8B-A607-4375-9BEB-36985686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额定输出功率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3C97C-82D2-4C83-855C-06024C73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5505450" cy="2743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A6D90-F930-49A6-96AE-50B7D23D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主功率级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81B78-0EDF-48A5-8CEA-425EAB92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LT3763 控制同步降压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高边 2×BSC070N10LS5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低边 2×BSC070N10LS5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6.8 µH / 30 A 电感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输入、输出各有 2.5 mΩ 采样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E1F26-0AF2-480F-B6EE-D5F22879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86100"/>
            <a:ext cx="5619750" cy="2743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127F6-7C59-430A-BCD8-CADFA25F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控制与辅助电源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7F7C3C-8274-4DEB-B775-18570272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81425"/>
            <a:ext cx="4972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MCU DAC 设置输出电流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LT3763 同时管电压环、输入限流和快速逐周期过流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LM5164：36 V → 12 V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JW5026：12 V → 5 V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LDO：5 V → 3.3 V / AVCC</a:t>
            </a:r>
          </a:p>
        </p:txBody>
      </p:sp>
    </p:spTree>
    <p:extLst>
      <p:ext uri="{BB962C8B-B14F-4D97-AF65-F5344CB8AC3E}">
        <p14:creationId xmlns:p14="http://schemas.microsoft.com/office/powerpoint/2010/main" val="19344346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E140BC-72E6-422D-9968-55F4966E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LT3763 恒流源 · 独立审板介绍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42E0E-AAF8-4E3B-A2D4-1A5D0E7F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电能先经过输入保护，再由同步 Buck 输出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22462-3467-4975-83B9-B8376EF0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1409700" y="2638425"/>
            <a:ext cx="94107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9525000" y="2638425"/>
            <a:ext cx="12954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819FE-9FED-497A-A07C-337CF3DF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5621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57E2D-A5D4-48AA-AD88-EBA1D11D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36V 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1870B-B09F-49F4-AC3B-3C7596C0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接口 + 线束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44B7D-0B49-4BC3-9390-B50786E0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15621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DDB1B-0D96-4DA4-A532-D8084EF7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098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浪涌/反接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D02A9-2CD7-4D9E-ACB3-E462D019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479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D6 · Q4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62D54-CFA3-4BFE-83B7-C4B4498C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15621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FBA4E-B394-4B9E-A753-5B7B4042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098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输入通断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273E3-3918-439F-9EAE-5C07777A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Q3 / Q12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F007C-D6B3-444A-90EA-AF056C44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15621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EF290-9C8D-4D5C-ABD3-8FD57A00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同步半桥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E3BE2-C9A3-45F3-85D7-189BB6DF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Q1/Q6 · Q2/Q5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099ED-DC01-4666-882F-62E8406F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15621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98217-DEC9-4816-BA16-1AE704EE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L6 + R1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E6D2B-1C1A-4EC2-B33D-C50CEF8E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6.8µH · Kelvin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031A28-3E4A-4DB3-ABB3-46A8D225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81200"/>
            <a:ext cx="15621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705B2-BF06-42D4-9FE1-E5C4B9D2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098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29V / 18A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90FF0F-968A-4FDB-A040-97980B1F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4795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输出端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2BAC4-5961-4179-902A-31A74A6A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3919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88E4C3-812B-4A09-AD26-97EEB766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主电流路径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1701F-CFFE-4114-BD07-A5317CE7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VCC_BAT → Q3/Q12 → DCBUS → 本地陶瓷输入电容 → 半桥 SW → L6 → R1 → VCC_OUT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90A246-5DC1-4650-A3F6-86D0A5D5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回流路径：负载 GND → 功率地平面/过孔阵列 → 低边 MOS → 本地输入电容。老师审板时，请优先沿这两个闭环寻找窄颈、绕行和共阻抗。</a:t>
            </a:r>
          </a:p>
        </p:txBody>
      </p:sp>
    </p:spTree>
    <p:extLst>
      <p:ext uri="{BB962C8B-B14F-4D97-AF65-F5344CB8AC3E}">
        <p14:creationId xmlns:p14="http://schemas.microsoft.com/office/powerpoint/2010/main" val="1807626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F8B7B2-DA2B-447A-A5E6-AE3B9850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LT3763 恒流源 · 独立审板介绍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CA7CE-83FE-4AA4-BB7E-523D662F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LT3763 同时管理四件事；软件只负责设定目标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5E3D7-5078-4239-A60B-E088D0E3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3771900" y="3028950"/>
            <a:ext cx="459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EE5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6076950" y="2019300"/>
            <a:ext cx="0" cy="2914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EE5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BD340-3148-470F-8153-878E05EB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43150"/>
            <a:ext cx="28956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26E54-3F83-49F8-930C-FC1B3522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LT3763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39C69-1462-428A-A8B4-4D819604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242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BFF"/>
                </a:solidFill>
                <a:latin typeface="Microsoft YaHei"/>
                <a:ea typeface="Microsoft YaHei"/>
                <a:cs typeface="Microsoft YaHei"/>
              </a:rPr>
              <a:t>200 kHz 同步 Buck 控制器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CEF7B-C5C4-44ED-99CF-EC5C2AD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238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834CE-8D0A-4209-B31B-B852A162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输出电流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E683B-867F-4E16-9DD4-62D22091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R1 2.5mΩ</a:t>
            </a:r>
          </a:p>
          <a:p xmlns:a="http://schemas.openxmlformats.org/drawingml/2006/main">
            <a:pPr algn="l"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SENSE± 快速逐周期保护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26DEA-97FC-489B-BC8A-3059A6AB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238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72BC6-E718-40F1-8B18-B4454476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输入电流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B73CE-10AB-4F79-B3EC-6CF6EB04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R12 2.5mΩ</a:t>
            </a:r>
          </a:p>
          <a:p xmlns:a="http://schemas.openxmlformats.org/drawingml/2006/main">
            <a:pPr algn="l"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IVIN 为平均输入限流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4F022-A1B1-4F50-B7A5-86012E1F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19250"/>
            <a:ext cx="3238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765F2-83AF-403E-B431-0EC0FE38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输出电压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8E3ED-7772-49B1-9DE1-8DF04DB3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R30/R49</a:t>
            </a:r>
          </a:p>
          <a:p xmlns:a="http://schemas.openxmlformats.org/drawingml/2006/main">
            <a:pPr algn="l"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标称约29.19V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ED55F-A122-4C81-9F03-23DA0682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95750"/>
            <a:ext cx="32385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B9084-43A0-4702-95A6-9F5C2594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8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启动与温度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DE3363-5D8B-4473-A259-76A481EC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244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UVLO + CTRL2 NTC</a:t>
            </a:r>
          </a:p>
          <a:p xmlns:a="http://schemas.openxmlformats.org/drawingml/2006/main">
            <a:pPr algn="l">
              <a:def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阈值仍待确认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EE3C67-0688-4010-8C9E-197006F2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24450"/>
            <a:ext cx="4305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40E92-FA47-4FA1-A003-F556E71F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72075"/>
            <a:ext cx="411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MCU DAC → CTRL1：正常工作电流命令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32098-D1A8-4E0D-841A-9E69A914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7340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注意：软件限制18A ≠ 独立硬件18A上限；软件异常时仍由LT3763内部硬保护兜底。</a:t>
            </a:r>
          </a:p>
        </p:txBody>
      </p:sp>
    </p:spTree>
    <p:extLst>
      <p:ext uri="{BB962C8B-B14F-4D97-AF65-F5344CB8AC3E}">
        <p14:creationId xmlns:p14="http://schemas.microsoft.com/office/powerpoint/2010/main" val="14693910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2084B5-B80D-4AD9-9F77-8EC16827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LT3763 恒流源 · 独立审板介绍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82732-E070-41C4-B332-5AE326D7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主功率布局围绕最小化高 di/dt 回路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BD8C1-DC18-4AF5-8B58-A715E254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08D3C-7081-459A-B190-ED7E6843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067550" cy="44958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8eb04e38b4101"/>
          <a:stretch xmlns:a="http://schemas.openxmlformats.org/drawingml/2006/main"/>
        </p:blipFill>
        <p:spPr>
          <a:xfrm xmlns:a="http://schemas.openxmlformats.org/drawingml/2006/main">
            <a:off x="850991" y="1466850"/>
            <a:ext cx="6165669" cy="4495800"/>
          </a:xfrm>
          <a:prstGeom xmlns:a="http://schemas.openxmlformats.org/drawingml/2006/main" prst="roundRect">
            <a:avLst>
              <a:gd name="adj" fmla="val 254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F0A38-26CA-49FB-8C80-FA1AECD5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81150"/>
            <a:ext cx="3333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7C45B-D58E-4137-9414-943D6FDA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287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① LT3763 + 栅极网络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28743-0EF9-48F0-BC04-E5EE6DA8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76450"/>
            <a:ext cx="3333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247F3-CEB2-47DC-9ABB-C9AFD097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240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② 上下桥并联 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9E0BF-32EE-439C-9650-B5EBFA97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71750"/>
            <a:ext cx="3333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2D5DB-88C4-4389-A5EB-FC64812E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193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③ 半桥本地 100V MLCC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54C0F-180B-4462-B7C0-5C5A5BD4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67050"/>
            <a:ext cx="3333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96F11-2E91-4DB7-951D-97EC70B9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146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④ SW 主要保留在顶层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C213A-5182-4E7C-B5E9-7A8AD510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62350"/>
            <a:ext cx="3333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707A1-6E3C-4747-AC7D-3939480D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099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⑤ L6 → R1 顶层大铜皮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3D041-E2D3-45DC-A333-706BC210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29100"/>
            <a:ext cx="37909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ADFDB-6C0D-4846-90FA-26C26D92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19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请老师重点看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A26BC-35DB-4E99-AFBD-170227CF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10125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输入电容到半桥的闭环面积</a:t>
            </a:r>
          </a:p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并联MOS栅极/源极是否对称</a:t>
            </a:r>
          </a:p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SW是否仍耦合采样与模拟线</a:t>
            </a:r>
          </a:p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• L6、R1和输出端是否存在局部窄颈</a:t>
            </a:r>
          </a:p>
        </p:txBody>
      </p:sp>
    </p:spTree>
    <p:extLst>
      <p:ext uri="{BB962C8B-B14F-4D97-AF65-F5344CB8AC3E}">
        <p14:creationId xmlns:p14="http://schemas.microsoft.com/office/powerpoint/2010/main" val="977155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8D283-FD34-4524-A7DB-2F01545F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LT3763 恒流源 · 独立审板介绍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92FEF-7D13-483D-8D5A-3E94DF19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输入保护能工作，但动态可靠性仍需重点判断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8E207-A1B3-4D0B-97E1-44478EE4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AC640-DBD1-4725-914F-4D447C85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6286500" cy="44958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49732780a489f"/>
          <a:stretch xmlns:a="http://schemas.openxmlformats.org/drawingml/2006/main"/>
        </p:blipFill>
        <p:spPr>
          <a:xfrm xmlns:a="http://schemas.openxmlformats.org/drawingml/2006/main">
            <a:off x="1689675" y="1466850"/>
            <a:ext cx="3707251" cy="4495800"/>
          </a:xfrm>
          <a:prstGeom xmlns:a="http://schemas.openxmlformats.org/drawingml/2006/main" prst="roundRect">
            <a:avLst>
              <a:gd name="adj" fmla="val 254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9B8AC-CB3B-4F73-A26B-D5043D45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66850"/>
            <a:ext cx="48387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69855-7393-43DC-8E81-C14D5848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19250"/>
            <a:ext cx="895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D3B9D-549F-4A3B-ADEA-25ABDF82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668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5E742-82E3-4723-82BE-5FBC0D96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SMCJ36CA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20131-FAE0-4D21-B330-673502CA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431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58.1V最大钳位值接近60V器件等级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7404E-D037-4D9D-9AA7-7E505707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48387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7C5CE-3AA9-42E9-BBEC-BBD13148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895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64D07-2CAF-49B4-96F5-7F9DB6F9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Q3/Q12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6D440-5E22-440A-96D6-69D3D071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80V P-MOS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F8D69-84C3-4502-A44E-FCDEF2D5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导通损耗可控；热插拔线性SOA待验证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60F65-8D4D-4673-948A-9536DA55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76650"/>
            <a:ext cx="48387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B4126-D780-4463-BA34-66BCB58B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895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43A7F-BDC1-4AC4-8879-24E32D71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766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U7/Q11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BDF21-9DFF-4B24-B621-0E677D0E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2905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43V稳压管关断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EFFBF-7EFC-4837-B2F8-E27F10AA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529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R8=100k使阈值、温漂和速度不精确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381C6B-C611-42AF-A308-21A376EB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81550"/>
            <a:ext cx="4838700" cy="962025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F937B7-1AAF-45BB-85CC-E7064F56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33950"/>
            <a:ext cx="895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ACD0A7-BDEA-431B-9AB9-7869DF5A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815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546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R6/C5 + R17/C9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0F82B7-A01C-4B24-AE33-D6D25461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3395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串联RC阻尼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6896B2-A3BE-400D-8F29-7ADB6EA1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578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每支路理想阶跃能量约64.8mJ</a:t>
            </a:r>
          </a:p>
        </p:txBody>
      </p:sp>
    </p:spTree>
    <p:extLst>
      <p:ext uri="{BB962C8B-B14F-4D97-AF65-F5344CB8AC3E}">
        <p14:creationId xmlns:p14="http://schemas.microsoft.com/office/powerpoint/2010/main" val="868659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D8548E-3985-491E-9033-E387A5F7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LT3763 恒流源 · 独立审板介绍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3F87C-60D3-48D2-BEE0-DBDA48D4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关键工作点已有计算；是否可靠仍要用实测闭环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F7599-76BA-4416-A693-46749CCA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05B70-0792-4629-978C-78F5C1EB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2669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8C39D-2258-4B88-AAD2-9713F807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4782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71FEF-F150-4990-B397-F2D671C7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24000"/>
            <a:ext cx="29527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BBD72-9C58-4CC2-B226-AF463C57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4782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CDB08-E81E-4933-B1C3-FC2CDB4A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3238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BDDFC-0DED-4D65-8DEE-C59EE053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4782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2EFEF-DF4D-4FC0-8C3D-91ED20CC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9337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00898-F2F3-405E-9268-66C68533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4782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084F7-4FAE-4FAE-AD89-67386A48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2669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E1C2A-50D6-4634-B229-68E8476B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输出电压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E1BED-E285-4711-91A7-B4BA08D5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81200"/>
            <a:ext cx="29527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E49F9-BAF2-4B64-8A77-DAC690FA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R30=232k / R49=10k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D64B3-5520-4DD3-B42E-127D11B5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81200"/>
            <a:ext cx="3238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94081-0BA3-484F-A024-7B6D8112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955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29.19V 标称；正常最差约29.7V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CA55B-27E8-4630-8220-9F2AAF69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29337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C6228-49FA-41C2-8B0B-3397455E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符合≤30V目标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9FBD6-2920-4F4C-843C-28C89FE5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22669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5BBDC4-419A-4951-8384-E2E62294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电感电流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B2032-6F06-4442-A29C-01CF8B54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28900"/>
            <a:ext cx="29527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189706-8D0C-41BE-8801-EEC2BDA8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4320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36→29V，18A，200kHz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C6D78F-EE3C-4611-8733-D3FC4CAC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3238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533E53-6145-4148-B11C-22FCA488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432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纹波≈4.15App；峰值≈20.1A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37437C-1801-4137-8848-B8D35308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9337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D461DB-0F32-42C8-A76E-39CF5657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432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低于40A饱和值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DDA3F3-C428-4908-A26D-B869E58B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22669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A55404-544C-4C78-82BA-CA95EF53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输出分流器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05CCA5-7D3E-44C2-95CE-7A44BD50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76600"/>
            <a:ext cx="29527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7AEC09-1529-4F33-B99C-D12F43FE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9090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R1=2.5mΩ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4DC5A0-488A-4051-B817-F2123780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76600"/>
            <a:ext cx="3238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75B860-926F-4539-BF76-C9D3BC45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909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18A时≈0.81W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5106B5-2A0A-4B38-A4D7-E51035AF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9337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00CB95-38DD-4A32-AE50-73E231F6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909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核实焊盘热梯度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7157FB-6306-49B6-A6DA-8F35DD71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22669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911ACD-D7CF-4955-8A0C-ECD5EFC5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输入电流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8BD03A-9C72-4161-9D21-2E5D4701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24300"/>
            <a:ext cx="29527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CF7BDB-4346-4F9F-9A47-FF440483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3860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η按95%估算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33AEF0-54D8-45AD-A21A-92D712F8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24300"/>
            <a:ext cx="3238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190386-DC1F-4AC8-ABFE-287F38D0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386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约15.3A；R12≈0.59W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9B1EF4-AC81-4668-9618-D247F192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29337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D4D6C5-DF43-475F-903C-043BC323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386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输入限流有余量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8F2646-316A-42D6-998B-9CE1E84C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22669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C17F80-4606-47DF-9F90-D667B7ED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软件电流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121BAA-39D2-4F11-A444-61EBA86F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29527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35222F-3A7B-44DD-9C2C-1D67B2D0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8630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R2=10k / R19=8.2k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606FC7-5016-416E-8CC8-940FDCD0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3238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E66BCB-1182-4EFE-94BC-E63C63B7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863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18A典型DAC≈2.94V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C13B52-8434-4EAA-B2E3-AE46817D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9337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F15CAD-E82F-4B8B-8799-F958A273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863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首测建议更保守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CE0E7E-ECB4-4597-A47E-E60922D7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22669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9E671B-98AC-41E9-8EFB-DC195E94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UVLO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6026A5-93F6-4732-B9F6-B71176B6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295275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7EB52A-A780-4948-A6C0-2CD38805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3400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R52=120k / R53=6.34k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CF2283D-EDAD-4922-B6FC-C6FAF8FC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19700"/>
            <a:ext cx="32385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7CA26C-76C5-498F-8211-1DEF3199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3340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约30.3V关断 / 34V启动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88CDA8-59C6-4A4B-A830-92D54521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2933700" cy="647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0A3E52-77C4-4939-B1EC-A8727869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3340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需台架复测阈值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EF2437-4202-45C9-B729-1B5788F5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计算值用于确定量级和测试边界；不能替代示波器波形、热像、效率和保护动作测试。</a:t>
            </a:r>
          </a:p>
        </p:txBody>
      </p:sp>
    </p:spTree>
    <p:extLst>
      <p:ext uri="{BB962C8B-B14F-4D97-AF65-F5344CB8AC3E}">
        <p14:creationId xmlns:p14="http://schemas.microsoft.com/office/powerpoint/2010/main" val="1030860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3ADA9-CE8B-4823-8A51-5190D653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LT3763 恒流源 · 独立审板介绍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13C53-43EC-43A3-B943-541AA079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四层电流路径已补强；铜厚和过孔能力仍需制造确认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23135-0297-4AA5-BBB8-18F22CE0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EA610-8D98-4E85-A1F7-3D86B89D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42925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335d051fa43ef"/>
          <a:stretch xmlns:a="http://schemas.openxmlformats.org/drawingml/2006/main"/>
        </p:blipFill>
        <p:spPr>
          <a:xfrm xmlns:a="http://schemas.openxmlformats.org/drawingml/2006/main">
            <a:off x="653415" y="1466850"/>
            <a:ext cx="4922520" cy="38862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C37E5-2769-44C2-AFB6-20CF722D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57912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d61edc7b94e4b"/>
          <a:stretch xmlns:a="http://schemas.openxmlformats.org/drawingml/2006/main"/>
        </p:blipFill>
        <p:spPr>
          <a:xfrm xmlns:a="http://schemas.openxmlformats.org/drawingml/2006/main">
            <a:off x="6435090" y="1466850"/>
            <a:ext cx="4922520" cy="38862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EEB6F-17B9-4825-A602-CB6675A3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4476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3385D-A6D5-4FDA-8B7F-B7D7163B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340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内层：大面积电源/地铜 + 过孔阵列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4E857-1186-4973-995D-32316918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86400"/>
            <a:ext cx="4648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83668-F098-4A5F-8D57-8BF9EE65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34025"/>
            <a:ext cx="445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底层：回流与辅助跨层，避免大面积SW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D8564-4C91-4624-9EF3-6EDB1962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已知：$1N947 顶层与 L3 同网并通过孔相连；高电流焊盘直连；常规功率过孔约0.6/0.3mm。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009BF-0C2E-48CA-8BCA-6C74B73D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待确认：嘉立创下单全层2oz是否与生产文件一致；孔铜厚度、局部窄颈和电流分配是否满足连续18A温升。</a:t>
            </a:r>
          </a:p>
        </p:txBody>
      </p:sp>
    </p:spTree>
    <p:extLst>
      <p:ext uri="{BB962C8B-B14F-4D97-AF65-F5344CB8AC3E}">
        <p14:creationId xmlns:p14="http://schemas.microsoft.com/office/powerpoint/2010/main" val="1973948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120B20-4E74-46A8-B066-60EE3268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LT3763 恒流源 · 独立审板介绍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98A64-F980-421C-B629-AA5656BC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当前没有被证明的，不等于已经安全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C452B-3057-4FA3-BE50-75BCE74F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D4A24-ADE2-426A-8689-91C6E478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4AF40-8C98-44FF-8EDD-82A8C408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C7E26-528F-482E-91E2-38672700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9B4D9-F35A-4D28-9DC5-1AC5832C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热降额曲线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A0BF6-5F89-4ACA-9F61-E9265A02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859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R57=20kΩ可能过早降额；NTC位置也必须能代表热点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CBD7B-6E5C-4016-B234-651CF8B2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762125"/>
            <a:ext cx="1000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45217-5475-4740-89F0-6C8672DD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09750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E47C2-E852-4A47-95F2-0B3AA60A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1391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58767-3A31-4E2B-B46D-E86057AB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384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95C5C"/>
          </a:solidFill>
          <a:ln xmlns:a="http://schemas.openxmlformats.org/drawingml/2006/main" w="9525">
            <a:solidFill>
              <a:srgbClr val="D95C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758E0-8A29-4E3C-B476-CF328510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050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84176-4DC7-4C2E-A411-875213E5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浪涌/热插拔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3C02A-1D40-4C98-B872-0A59A2E7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288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D6、U7/Q11、Q3/Q12的动态配合与SOA尚未实测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F82F2-DC70-40FF-A394-431557C3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05075"/>
            <a:ext cx="1000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C"/>
          </a:solidFill>
          <a:ln xmlns:a="http://schemas.openxmlformats.org/drawingml/2006/main" w="9525">
            <a:solidFill>
              <a:srgbClr val="D95C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01410-264C-4B9E-9B01-683A539C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52700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29720-3CA8-4018-A40F-9256C534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11391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EAAAA-D7D4-4B43-AA26-480BEEFD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95C5C"/>
          </a:solidFill>
          <a:ln xmlns:a="http://schemas.openxmlformats.org/drawingml/2006/main" w="9525">
            <a:solidFill>
              <a:srgbClr val="D95C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9884C-519C-45C6-B89D-34B1FEC2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48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D53DB-708B-4BA5-A422-AAFF62F9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RC阻尼脉冲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CA776A-6BF4-41C1-968C-4066BF13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718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R6/R17必须有明确单脉冲和重复脉冲耐量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9D82B-43D6-47BB-847B-6AE31AC4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48025"/>
            <a:ext cx="1000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C"/>
          </a:solidFill>
          <a:ln xmlns:a="http://schemas.openxmlformats.org/drawingml/2006/main" w="9525">
            <a:solidFill>
              <a:srgbClr val="D95C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2671F7-C13D-4FA4-9DFA-2CBFF83E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95650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224FAE-4B08-4330-985B-F7FE15EF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11391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502DD-960F-4017-952A-2BA2C6C9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074B4-ED2E-45CA-B781-78083400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909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8B5071-B772-4BFD-B7A5-E8947885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LM5164 C25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262AE2-1297-4AF9-959A-1A39C78D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147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当前2.2nF与典型56pF差异大，需比较轻载和瞬态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7A4EA0-D2DE-4ED5-AA95-9EC00DC8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90975"/>
            <a:ext cx="1000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9BEE0-21B6-4313-BFB3-F58600A1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38600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317323-DED7-484D-AEEC-EE96AA83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11391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E86023-C4D4-49B0-9A7C-0B62A877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16FC0D-BD6C-4CAF-8BFC-9C16EAEC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339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DF1418-0D00-4A98-B1A6-86DF657E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制造一致性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E5F67E-6291-4EF4-A25A-EAE80D5B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577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全层2oz、盘中孔树脂塞孔盖铜、钢网分窗需下单确认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0F0811-1F8C-44EC-9132-A3EB3199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33925"/>
            <a:ext cx="1000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B66D9B-4EE4-49CA-A9E5-35C90C34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781550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844879-4F5C-4311-A624-9A0504DE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68F5DC-3DBB-4F52-A55C-61D6BEA3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102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5EB6AB-2659-475B-9B08-FE0406D1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768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9DDA93-0029-454E-BB32-666C700D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102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软件边界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D75214-3934-43F9-BDD4-0A50AB0B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006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18A依赖DAC设定；异常情况下的独立上限与故障策略待定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7C6136-E77F-4D8E-B226-612E8177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1000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8C1632-C9A7-4F72-B90F-84CD0C83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24500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</p:spTree>
    <p:extLst>
      <p:ext uri="{BB962C8B-B14F-4D97-AF65-F5344CB8AC3E}">
        <p14:creationId xmlns:p14="http://schemas.microsoft.com/office/powerpoint/2010/main" val="15877338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A8B903-7FD1-49D2-B622-C708C112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LT3763 恒流源 · 独立审板介绍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C9CF7-1444-44A0-B872-B4DF5A28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希望老师优先回答这 8 个问题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3481E-3DA6-4127-9A85-8A545D22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D8629-A36D-4B58-B8CD-F86B54DF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6007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51753-63CB-4922-ABD9-09BD5D1C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9225F-81B5-4BEC-8869-6AFCD203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功率回路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DA215-A6F6-4C56-9F7B-2CE197B6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4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半桥本地输入电容—MOS—GND闭环是否足够小？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5C59C-FC2E-494F-ACAF-294DF190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56007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3C29E-8A10-4CAF-A1B0-D601E404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0EA26-6FAD-44D4-AF9D-82767182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铜皮/过孔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F7F33-91B1-4F04-A1B5-AF88A2C1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24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连续18A下，各层分流、窄颈和过孔阵列是否合理？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42552-2007-44CE-B748-3490757C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56007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10FEF-BF6F-4548-B1D9-1BC42CD5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B3AD4-0DAC-4798-862C-F1CAF909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Kelvin采样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268C8-9DEE-4837-B9E8-FE8BE06C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R1/R12采样是否可能被大电流铜皮和地弹污染？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F8D81-8553-4C40-83F8-184E5752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56007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DD7A0-0E46-4B47-B036-5F3D8573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1341E-09A2-49E8-B2D0-EA56B71A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浪涌协调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3556F0-2650-41DE-A7DE-FB369373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SMCJ36CA、离散过压关断和60V器件余量是否可接受？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9B717-8AE4-40D1-A076-E03C67FD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56007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E71F5-0138-4E88-BA0C-D778DFAB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E6290-2A58-43CF-AA1A-4662155F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热插拔SOA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B0FCDC-B885-4F12-985D-AB08D579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Q3/Q12在直接36V接入时是否可能进入危险线性区？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9155DE-FA0D-4E92-9B39-8FE9B5B7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56007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370AA2-1567-4B44-A37E-9A960E88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81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D067DF-D813-47FD-9E6C-D620C46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62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阻尼支路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891AA6-447E-4144-817D-98A41DB5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862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0.3Ω+100µF的电阻脉冲等级和阻尼值应如何确定？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E9030A-C52E-434F-9ED3-23C9E687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56007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141C52-F065-4179-9687-F47DCA68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C916E4-B98E-4811-A7A8-8BAD68D0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控制细节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FB2F91-40AD-4461-9D89-9BD97FB6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CTRL2热降额和LM5164 C25首版应选什么值？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4A1EE8-CF7D-4D27-90AF-5284678E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56007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917487-D8A6-482A-9BC2-714B4BD1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62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68275A-8AFD-4FE4-BEFE-4CBD3A94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43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测试边界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D01240-8F60-44CB-BD8E-26D35AC9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4673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首次满载前必须测哪些波形、温度和保护动作？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B47E85-2F1F-4A0F-95A7-4A740B87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建议把老师的回答直接记录成：结论 / 依据 / 修改值 / 验证方法。</a:t>
            </a:r>
          </a:p>
        </p:txBody>
      </p:sp>
    </p:spTree>
    <p:extLst>
      <p:ext uri="{BB962C8B-B14F-4D97-AF65-F5344CB8AC3E}">
        <p14:creationId xmlns:p14="http://schemas.microsoft.com/office/powerpoint/2010/main" val="921908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0B6BCC-9CE2-44E8-9792-D9DFD025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LT3763 恒流源 · 独立审板介绍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B5F79-75B6-4E0D-AF59-4B72873A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样机验证按低风险 → 高风险推进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5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7786A-E845-4CF8-AF67-64015B6A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1295400" y="3352800"/>
            <a:ext cx="9601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DEE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329E3-E857-4E1A-BDD3-907E0B1B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95419-D8CC-4FCD-A966-C2C3DFFB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6B"/>
          </a:solidFill>
          <a:ln xmlns:a="http://schemas.openxmlformats.org/drawingml/2006/main" w="9525">
            <a:solidFill>
              <a:srgbClr val="2F8F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AD224-5BF1-4B13-81E7-24B94CAD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15802-7981-4834-A678-DD724EE6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限流慢升压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DDA5D-979A-4AFB-90B2-F0D572AB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空载；先检查短路、静态电流与异常发热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56B47-2732-49AE-BE92-6CE69E1F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1925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FB65C-13E1-4E4C-8F98-7E6CA9B0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6B"/>
          </a:solidFill>
          <a:ln xmlns:a="http://schemas.openxmlformats.org/drawingml/2006/main" w="9525">
            <a:solidFill>
              <a:srgbClr val="2F8F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6C810-CF15-4D8E-A7C5-2EE344B2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8C632-6D8C-4DC8-94FC-23F1D0F0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526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检查辅助电源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C557D-AB4C-4180-BAB3-CF02A4F4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717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确认12V、5V、3.3V和AVCC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253B1-9112-4EE3-B0A5-FDDE6A6A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E74FA-F8CD-46A1-9AAD-517D8320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628D7-194B-49BA-A11D-ABBBCC99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3B59F-4B20-4CE7-B05A-951261C6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526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低电流看波形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334AA-4D4F-424E-BEBE-AA842560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SW、TG/BG、死区、尖峰；短地弹簧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164DB-2610-4117-B5B5-9138347A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1925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91F56-D173-4E2D-93B7-2E6269D8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526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49473-981B-4CB3-B61C-937E2963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09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337C60-424F-4464-B708-535F85F1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阶梯加载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BE221-2212-4538-8B26-E42717FF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717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9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1A → 5A → 10A → 15A → 18A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DD6BBC-DD19-435E-9BFD-E5259CCC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FC4B5C-38D6-4734-B0B8-863F7F66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F1F02B-B2B6-4443-B056-0B9BB801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70E919-B5DD-4854-8644-D27FC6BC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满载热平衡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7542CD-8639-42F6-A3DF-E8A44407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热像记录MOS、电感、分流器、过孔和端子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94E66A-263A-4843-B429-79E951AB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0525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B3B730-F808-4D7A-AC0C-BBA56044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386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4738FF-C88D-4BBE-B695-BAFBBA9D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09798D-8D08-4270-93E9-2C6FD35C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386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动态与热插拔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A273B6-17E1-4556-B483-F7AB04C6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77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限流条件下直接使能/接入，观察浪涌与SOA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B8EA2D-993E-4F8E-892F-154646E7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41372A-EB64-48F3-A7FE-C70B7E04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C"/>
          </a:solidFill>
          <a:ln xmlns:a="http://schemas.openxmlformats.org/drawingml/2006/main" w="9525">
            <a:solidFill>
              <a:srgbClr val="D95C5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ED2586-73E2-4089-B342-9231E54E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F14361-5B40-4357-9973-3AFA5AF6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386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保护阈值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B05B64-D809-4839-B4ED-79DDE0C5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577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验证UVLO、U7关断、TVS前后电压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2E579C-CA64-4E1C-B43E-C66EF3DC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05250"/>
            <a:ext cx="2533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B33D7B-7AEE-45D4-85EB-C39B323B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386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C5C"/>
          </a:solidFill>
          <a:ln xmlns:a="http://schemas.openxmlformats.org/drawingml/2006/main" w="9525">
            <a:solidFill>
              <a:srgbClr val="D95C5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AAF06C-ABF3-41C9-A008-415CAF2E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957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92CA58-AA0C-4929-9C38-74CED993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386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故障测试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2EB886-6C67-4288-AE9D-A00D4458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577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限流下开路、短路、掉电、重复启动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F29DC0-70B5-4ED2-9337-F3A2D681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约500W实验必须使用保险、限流电源、远程使能和合适探头；禁止带电用手调整。</a:t>
            </a:r>
          </a:p>
        </p:txBody>
      </p:sp>
    </p:spTree>
    <p:extLst>
      <p:ext uri="{BB962C8B-B14F-4D97-AF65-F5344CB8AC3E}">
        <p14:creationId xmlns:p14="http://schemas.microsoft.com/office/powerpoint/2010/main" val="3665691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37926-5AC9-4C60-8841-3695398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希望这次审板最后得到三类明确结论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BDD92-A87A-4B9C-A3BA-4CB15F38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5052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9211E-CEEA-4C07-B0D0-546E625E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95C5C"/>
                </a:solidFill>
                <a:latin typeface="Microsoft YaHei"/>
                <a:ea typeface="Microsoft YaHei"/>
                <a:cs typeface="Microsoft YaHei"/>
              </a:rPr>
              <a:t>必须修改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50A92-1D0D-499F-ACCB-53874BC5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投板前不改就可能导致器件损坏、控制失效或无法制造的项目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210A1-4976-4604-9E04-4C3D335A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输出格式：位号 + 风险 + 修改值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37244-64C8-4B42-ACDB-6CF1982F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24000"/>
            <a:ext cx="35052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B5A6A-2F54-45AF-983D-1D976519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0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必须验证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C6373-E883-4FB0-B945-598FE787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实验板可以保留，但必须给出测试方法、限制条件和通过标准的项目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0DF22-94E8-4FB3-B0CB-7339A50D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386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输出格式：工况 + 仪器 + 通过标准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E0BE0-476A-4B97-9D0C-A6A44308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5052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CD49E-681A-4634-91B4-21CF3F92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8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8F6B"/>
                </a:solidFill>
                <a:latin typeface="Microsoft YaHei"/>
                <a:ea typeface="Microsoft YaHei"/>
                <a:cs typeface="Microsoft YaHei"/>
              </a:rPr>
              <a:t>可以保留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01A04-508A-4BA7-85AC-789B29E9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经数据手册、计算和布局审查后，可用于首版样机的部分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EE8F5-F8B4-40B5-A42E-D3232CCC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38600"/>
            <a:ext cx="281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输出格式：依据 + 仍需监测项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38CB8-6DD2-4D3D-9B7A-59D4E013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我会根据老师结论修改工程，再用同一套清单进行复核。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757B6-0383-4322-91D8-E15EFA77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AI 辅助设计 · DRC=0 不代表电气与热设计通过 · 最终以独立审查和实测为准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2DEA7-82DE-41C9-8B47-BD0CBB0E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57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86842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2026-08-19T08:45:40.6390000Z</dcterms:created>
  <dcterms:modified xsi:type="dcterms:W3CDTF">2026-08-19T08:45:40.6390000Z</dcterms:modified>
</coreProperties>
</file>